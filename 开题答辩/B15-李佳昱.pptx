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6" r:id="rId7"/>
    <p:sldId id="259" r:id="rId8"/>
    <p:sldId id="263" r:id="rId9"/>
    <p:sldId id="265" r:id="rId10"/>
    <p:sldId id="267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64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【演讲稿】
各位老师好，我汇报的题目是《基于特征解耦与知识增强的“电力看经济”智能体构建方法》。本项目聚焦一个核心问题：如何把复杂的电量变化转化为对经济态势的可解释、可交互、可落地判断。我们希望利用多源数据融合、知识图谱和大模型技术，构建一个能够监测异常、生成报告并支持问答的智能体原型。接下来我从背景意义、研究目标、技术路线、创新点和实施计划五个方面进行汇报。
[Sources]
- 用户上传申报书：SRTP申报书(2).pdf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【演讲稿】
本项目的提出主要有三方面背景。第一，在双碳战略和能源转型背景下，电力系统越来越需要智能化、精细化管理。第二，电力消费和宏观经济之间存在紧密耦合关系，用电变化本身就是观察经济运行的重要窗口。第三，传统方法往往只做单一预测，难以同时处理气象、节假日和经济因素的叠加扰动。因此，我们的目标不是简单预测电量，而是把用电数据真正转化为经济态势感知能力，形成从监测、诊断到报告生成和问答交互的完整闭环。
[Sources]
- 用户上传申报书：SRTP申报书(2).pdf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【演讲稿】
围绕总目标，项目设置了四个层层递进的研究目标：首先建立电力和经济的动态演化理论框架；其次构建多源融合的电量波动解析模型；第三实现重点行业的异动监测与智能诊断；最后形成自动报告生成和智能问答能力。对应地，我们重点解决四个关键问题：一是复杂关系如何量化，二是多源数据如何融合并解耦，三是知识图谱、大模型和异常检测如何深度结合，四是多智能体如何协同输出可信结果。这四个问题也是后续技术路线设计的核心。
[Sources]
- 用户上传申报书：SRTP申报书(2).pdf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【演讲稿】
本项目的提出主要有三方面背景。第一，在双碳战略和能源转型背景下，电力系统越来越需要智能化、精细化管理。第二，电力消费和宏观经济之间存在紧密耦合关系，用电变化本身就是观察经济运行的重要窗口。第三，传统方法往往只做单一预测，难以同时处理气象、节假日和经济因素的叠加扰动。因此，我们的目标不是简单预测电量，而是把用电数据真正转化为经济态势感知能力，形成从监测、诊断到报告生成和问答交互的完整闭环。
[Sources]
- 用户上传申报书：SRTP申报书(2).pdf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【演讲稿】
技术路线可以概括为五步。第一步是多源数据输入，整合电量、气象、节假日和宏观经济信息。第二步是特征解耦分析，通过轻量化时序解耦剥离常规波动，识别区域、行业和用户三级特征。第三步是知识增强诊断，把电力经济知识图谱、语义大模型和 VAE 异常检测结合起来，提高诊断的准确性和可解释性。第四步是通过 RAG 和 MCP 机制实现多智能体协同。最后输出两类能力：一类是自动生成精准分析报告，另一类是支持交互式问答。这样就形成了从数据到知识再到决策表达的完整链路。
[Sources]
- 用户上传申报书：SRTP申报书(2).pdf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【演讲稿】
技术路线可以概括为五步。第一步是多源数据输入，整合电量、气象、节假日和宏观经济信息。第二步是特征解耦分析，通过轻量化时序解耦剥离常规波动，识别区域、行业和用户三级特征。第三步是知识增强诊断，把电力经济知识图谱、语义大模型和 VAE 异常检测结合起来，提高诊断的准确性和可解释性。第四步是通过 RAG 和 MCP 机制实现多智能体协同。最后输出两类能力：一类是自动生成精准分析报告，另一类是支持交互式问答。这样就形成了从数据到知识再到决策表达的完整链路。
[Sources]
- 用户上传申报书：SRTP申报书(2).pdf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【演讲稿】
技术路线可以概括为五步。第一步是多源数据输入，整合电量、气象、节假日和宏观经济信息。第二步是特征解耦分析，通过轻量化时序解耦剥离常规波动，识别区域、行业和用户三级特征。第三步是知识增强诊断，把电力经济知识图谱、语义大模型和 VAE 异常检测结合起来，提高诊断的准确性和可解释性。第四步是通过 RAG 和 MCP 机制实现多智能体协同。最后输出两类能力：一类是自动生成精准分析报告，另一类是支持交互式问答。这样就形成了从数据到知识再到决策表达的完整链路。
[Sources]
- 用户上传申报书：SRTP申报书(2).pdf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【演讲稿】
技术路线可以概括为五步。第一步是多源数据输入，整合电量、气象、节假日和宏观经济信息。第二步是特征解耦分析，通过轻量化时序解耦剥离常规波动，识别区域、行业和用户三级特征。第三步是知识增强诊断，把电力经济知识图谱、语义大模型和 VAE 异常检测结合起来，提高诊断的准确性和可解释性。第四步是通过 RAG 和 MCP 机制实现多智能体协同。最后输出两类能力：一类是自动生成精准分析报告，另一类是支持交互式问答。这样就形成了从数据到知识再到决策表达的完整链路。
[Sources]
- 用户上传申报书：SRTP申报书(2).pdf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23B74"/>
          </a:solidFill>
          <a:ln w="12700">
            <a:solidFill>
              <a:srgbClr val="123B7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3B74"/>
          </a:solidFill>
          <a:ln w="12700">
            <a:solidFill>
              <a:srgbClr val="123B7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12191695" cy="109728"/>
          </a:xfrm>
          <a:prstGeom prst="rect">
            <a:avLst/>
          </a:prstGeom>
          <a:solidFill>
            <a:srgbClr val="22A6E7"/>
          </a:solidFill>
          <a:ln w="12700">
            <a:solidFill>
              <a:srgbClr val="22A6E7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92824"/>
            <a:ext cx="365760" cy="164592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92824"/>
            <a:ext cx="365760" cy="164592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3" Type="http://schemas.openxmlformats.org/officeDocument/2006/relationships/image" Target="../media/image4.png"/><Relationship Id="rId2" Type="http://schemas.openxmlformats.org/officeDocument/2006/relationships/tags" Target="../tags/tag2.xml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5.png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4" Type="http://schemas.openxmlformats.org/officeDocument/2006/relationships/notesSlide" Target="../notesSlides/notesSlide3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image" Target="../media/image6.svg"/><Relationship Id="rId7" Type="http://schemas.openxmlformats.org/officeDocument/2006/relationships/image" Target="../media/image1.png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2" Type="http://schemas.openxmlformats.org/officeDocument/2006/relationships/notesSlide" Target="../notesSlides/notesSlide4.xml"/><Relationship Id="rId21" Type="http://schemas.openxmlformats.org/officeDocument/2006/relationships/slideLayout" Target="../slideLayouts/slideLayout2.xml"/><Relationship Id="rId20" Type="http://schemas.openxmlformats.org/officeDocument/2006/relationships/tags" Target="../tags/tag42.xml"/><Relationship Id="rId2" Type="http://schemas.openxmlformats.org/officeDocument/2006/relationships/tags" Target="../tags/tag26.xml"/><Relationship Id="rId19" Type="http://schemas.openxmlformats.org/officeDocument/2006/relationships/tags" Target="../tags/tag41.xml"/><Relationship Id="rId18" Type="http://schemas.openxmlformats.org/officeDocument/2006/relationships/tags" Target="../tags/tag40.xml"/><Relationship Id="rId17" Type="http://schemas.openxmlformats.org/officeDocument/2006/relationships/tags" Target="../tags/tag39.xml"/><Relationship Id="rId16" Type="http://schemas.openxmlformats.org/officeDocument/2006/relationships/tags" Target="../tags/tag38.xml"/><Relationship Id="rId15" Type="http://schemas.openxmlformats.org/officeDocument/2006/relationships/tags" Target="../tags/tag37.xml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tags" Target="../tags/tag2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4" Type="http://schemas.openxmlformats.org/officeDocument/2006/relationships/notesSlide" Target="../notesSlides/notesSlide5.xml"/><Relationship Id="rId23" Type="http://schemas.openxmlformats.org/officeDocument/2006/relationships/slideLayout" Target="../slideLayouts/slideLayout2.xml"/><Relationship Id="rId22" Type="http://schemas.openxmlformats.org/officeDocument/2006/relationships/image" Target="../media/image9.png"/><Relationship Id="rId21" Type="http://schemas.openxmlformats.org/officeDocument/2006/relationships/image" Target="../media/image8.png"/><Relationship Id="rId20" Type="http://schemas.openxmlformats.org/officeDocument/2006/relationships/image" Target="../media/image7.png"/><Relationship Id="rId2" Type="http://schemas.openxmlformats.org/officeDocument/2006/relationships/tags" Target="../tags/tag44.xml"/><Relationship Id="rId19" Type="http://schemas.openxmlformats.org/officeDocument/2006/relationships/tags" Target="../tags/tag61.xml"/><Relationship Id="rId18" Type="http://schemas.openxmlformats.org/officeDocument/2006/relationships/tags" Target="../tags/tag60.xml"/><Relationship Id="rId17" Type="http://schemas.openxmlformats.org/officeDocument/2006/relationships/tags" Target="../tags/tag59.xml"/><Relationship Id="rId16" Type="http://schemas.openxmlformats.org/officeDocument/2006/relationships/tags" Target="../tags/tag58.xml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tags" Target="../tags/tag53.xml"/><Relationship Id="rId10" Type="http://schemas.openxmlformats.org/officeDocument/2006/relationships/tags" Target="../tags/tag52.xml"/><Relationship Id="rId1" Type="http://schemas.openxmlformats.org/officeDocument/2006/relationships/tags" Target="../tags/tag4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7" Type="http://schemas.openxmlformats.org/officeDocument/2006/relationships/notesSlide" Target="../notesSlides/notesSlide6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76.xml"/><Relationship Id="rId14" Type="http://schemas.openxmlformats.org/officeDocument/2006/relationships/tags" Target="../tags/tag75.xml"/><Relationship Id="rId13" Type="http://schemas.openxmlformats.org/officeDocument/2006/relationships/tags" Target="../tags/tag74.xml"/><Relationship Id="rId12" Type="http://schemas.openxmlformats.org/officeDocument/2006/relationships/tags" Target="../tags/tag73.xml"/><Relationship Id="rId11" Type="http://schemas.openxmlformats.org/officeDocument/2006/relationships/tags" Target="../tags/tag72.xml"/><Relationship Id="rId10" Type="http://schemas.openxmlformats.org/officeDocument/2006/relationships/tags" Target="../tags/tag71.xml"/><Relationship Id="rId1" Type="http://schemas.openxmlformats.org/officeDocument/2006/relationships/tags" Target="../tags/tag6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662940" y="0"/>
            <a:ext cx="12854940" cy="77184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-364490" y="-491490"/>
            <a:ext cx="13413105" cy="8166735"/>
          </a:xfrm>
          <a:prstGeom prst="rect">
            <a:avLst/>
          </a:prstGeom>
          <a:gradFill flip="none" rotWithShape="1">
            <a:gsLst>
              <a:gs pos="50900">
                <a:srgbClr val="0070C0">
                  <a:alpha val="0"/>
                </a:srgbClr>
              </a:gs>
              <a:gs pos="0">
                <a:srgbClr val="0070C0">
                  <a:alpha val="0"/>
                </a:srgbClr>
              </a:gs>
              <a:gs pos="100000">
                <a:srgbClr val="0070C0">
                  <a:alpha val="40000"/>
                </a:srgbClr>
              </a:gs>
            </a:gsLst>
            <a:lin ang="2700000" scaled="0"/>
            <a:tileRect/>
          </a:gra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pic>
        <p:nvPicPr>
          <p:cNvPr id="44" name="图形 43" descr="箭头: 直 纯色填充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6228264" y="8265697"/>
            <a:ext cx="914400" cy="9144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7812405" y="8522970"/>
            <a:ext cx="1790065" cy="476885"/>
          </a:xfrm>
          <a:prstGeom prst="roundRect">
            <a:avLst>
              <a:gd name="adj" fmla="val 21053"/>
            </a:avLst>
          </a:prstGeom>
          <a:solidFill>
            <a:schemeClr val="bg1">
              <a:alpha val="2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pPr algn="ctr">
              <a:buClrTx/>
              <a:buSzTx/>
              <a:buFontTx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演示创黑FLY Heavy" panose="02000600000000000000" pitchFamily="2" charset="-122"/>
              </a:rPr>
              <a:t>一体化智能体</a:t>
            </a: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演示创黑FLY Heavy" panose="02000600000000000000" pitchFamily="2" charset="-122"/>
            </a:endParaRPr>
          </a:p>
        </p:txBody>
      </p:sp>
      <p:pic>
        <p:nvPicPr>
          <p:cNvPr id="3" name="图片 2" descr="电力传输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15010" y="-322580"/>
            <a:ext cx="12894310" cy="4063365"/>
          </a:xfrm>
          <a:prstGeom prst="rect">
            <a:avLst/>
          </a:prstGeom>
        </p:spPr>
      </p:pic>
      <p:sp>
        <p:nvSpPr>
          <p:cNvPr id="10" name="Text 8"/>
          <p:cNvSpPr/>
          <p:nvPr/>
        </p:nvSpPr>
        <p:spPr>
          <a:xfrm>
            <a:off x="444500" y="0"/>
            <a:ext cx="5783580" cy="21405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基于</a:t>
            </a:r>
            <a:r>
              <a:rPr lang="zh-CN" altLang="en-US" sz="4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特征解耦</a:t>
            </a:r>
            <a:r>
              <a:rPr lang="zh-CN" altLang="en-US" sz="32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  <a:r>
              <a:rPr lang="zh-CN" altLang="en-US" sz="4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知识增强</a:t>
            </a:r>
            <a:r>
              <a:rPr lang="zh-CN" altLang="en-US" sz="32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endParaRPr lang="zh-CN" altLang="en-US" sz="32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“电力看经济”智能体</a:t>
            </a:r>
            <a:endParaRPr lang="zh-CN" altLang="en-US" sz="32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构建方法</a:t>
            </a:r>
            <a:endParaRPr lang="en-US" sz="2800" b="1" dirty="0">
              <a:solidFill>
                <a:srgbClr val="123B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80135" y="6330950"/>
            <a:ext cx="1726565" cy="505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8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能源转型</a:t>
            </a:r>
            <a:endParaRPr lang="zh-CN" altLang="en-US" sz="28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916805" y="6334760"/>
            <a:ext cx="1824990" cy="5086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8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多源融合</a:t>
            </a:r>
            <a:endParaRPr lang="zh-CN" altLang="en-US" sz="28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951595" y="6338570"/>
            <a:ext cx="1887220" cy="5048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8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智能决策</a:t>
            </a:r>
            <a:endParaRPr lang="zh-CN" altLang="en-US" sz="28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65160" y="3846672"/>
            <a:ext cx="3742526" cy="18533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汇报人：李佳昱</a:t>
            </a: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学院：电气工程学院</a:t>
            </a: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指导教师：李知艺 研究员</a:t>
            </a: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项目周期：2026.03—2027.05</a:t>
            </a: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46180" y="6836664"/>
            <a:ext cx="365760" cy="164592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13" name="Shape 12"/>
          <p:cNvSpPr/>
          <p:nvPr/>
        </p:nvSpPr>
        <p:spPr>
          <a:xfrm>
            <a:off x="4345305" y="4415155"/>
            <a:ext cx="3799840" cy="994410"/>
          </a:xfrm>
          <a:prstGeom prst="roundRect">
            <a:avLst>
              <a:gd name="adj" fmla="val 21053"/>
            </a:avLst>
          </a:prstGeom>
          <a:solidFill>
            <a:schemeClr val="bg1">
              <a:alpha val="2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r>
              <a:rPr lang="zh-CN" altLang="en-US" sz="28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面向复杂电量变化的经济态势感知智能体</a:t>
            </a:r>
            <a:endParaRPr lang="zh-CN" altLang="en-US" sz="28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8615045" y="3921760"/>
            <a:ext cx="1876425" cy="453390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r>
              <a: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rPr>
              <a:t>异常</a:t>
            </a:r>
            <a:r>
              <a: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rPr>
              <a:t>监测</a:t>
            </a:r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661400" y="3978910"/>
            <a:ext cx="41910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>
                <a:solidFill>
                  <a:srgbClr val="FFC000"/>
                </a:solidFill>
              </a:rPr>
              <a:t>⚡</a:t>
            </a:r>
            <a:endParaRPr lang="zh-CN" altLang="en-US" sz="1600">
              <a:solidFill>
                <a:srgbClr val="FFC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8615045" y="4457065"/>
            <a:ext cx="1876425" cy="453390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r>
              <a: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rPr>
              <a:t>智能</a:t>
            </a:r>
            <a:r>
              <a: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rPr>
              <a:t>诊断</a:t>
            </a:r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661400" y="4512945"/>
            <a:ext cx="49847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>
                <a:solidFill>
                  <a:srgbClr val="92D050"/>
                </a:solidFill>
              </a:rPr>
              <a:t>📊</a:t>
            </a:r>
            <a:endParaRPr lang="zh-CN" altLang="en-US" sz="1600">
              <a:solidFill>
                <a:srgbClr val="92D05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8615045" y="4987925"/>
            <a:ext cx="1876425" cy="453390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r>
              <a: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rPr>
              <a:t>报告</a:t>
            </a:r>
            <a:r>
              <a: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rPr>
              <a:t>生成</a:t>
            </a:r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661400" y="5057140"/>
            <a:ext cx="44894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>
                <a:solidFill>
                  <a:schemeClr val="accent2"/>
                </a:solidFill>
              </a:rPr>
              <a:t>📄</a:t>
            </a: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615045" y="5541010"/>
            <a:ext cx="1876425" cy="453390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r>
              <a: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rPr>
              <a:t>交互</a:t>
            </a:r>
            <a:r>
              <a: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rPr>
              <a:t>问答</a:t>
            </a:r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642985" y="5601335"/>
            <a:ext cx="46736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>
                <a:solidFill>
                  <a:srgbClr val="00B0F0"/>
                </a:solidFill>
              </a:rPr>
              <a:t>💬</a:t>
            </a:r>
            <a:endParaRPr lang="zh-CN" altLang="en-US" sz="160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13970" y="12700"/>
            <a:ext cx="12179300" cy="68446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0900">
                <a:srgbClr val="0070C0">
                  <a:alpha val="0"/>
                </a:srgbClr>
              </a:gs>
              <a:gs pos="0">
                <a:srgbClr val="0070C0">
                  <a:alpha val="0"/>
                </a:srgbClr>
              </a:gs>
              <a:gs pos="100000">
                <a:srgbClr val="0070C0">
                  <a:alpha val="40000"/>
                </a:srgbClr>
              </a:gs>
            </a:gsLst>
            <a:lin ang="2700000" scaled="0"/>
            <a:tileRect/>
          </a:gra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58368" y="1042416"/>
            <a:ext cx="10835640" cy="0"/>
          </a:xfrm>
          <a:prstGeom prst="line">
            <a:avLst/>
          </a:prstGeom>
          <a:noFill/>
          <a:ln w="12700">
            <a:solidFill>
              <a:srgbClr val="C6D9EE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1"/>
            </p:custDataLst>
          </p:nvPr>
        </p:nvSpPr>
        <p:spPr>
          <a:xfrm>
            <a:off x="922655" y="1172210"/>
            <a:ext cx="3169285" cy="421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为什么分析经济趋势很</a:t>
            </a: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重要</a:t>
            </a:r>
            <a:endParaRPr lang="zh-CN" altLang="en-US" sz="20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Text 8"/>
          <p:cNvSpPr/>
          <p:nvPr>
            <p:custDataLst>
              <p:tags r:id="rId2"/>
            </p:custDataLst>
          </p:nvPr>
        </p:nvSpPr>
        <p:spPr>
          <a:xfrm>
            <a:off x="922655" y="1593850"/>
            <a:ext cx="3444240" cy="4476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关系到政府决策、电网运行安排</a:t>
            </a:r>
            <a:endParaRPr lang="zh-CN" altLang="en-US" sz="16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2484735" y="6816344"/>
            <a:ext cx="365760" cy="164592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4" name="图片 3" descr="风光电同框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" y="7088505"/>
            <a:ext cx="12179935" cy="198882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74040" y="359410"/>
            <a:ext cx="10728325" cy="475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2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研究背景：为什么</a:t>
            </a:r>
            <a:r>
              <a:rPr lang="en-US" altLang="zh-CN" sz="32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32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电力看经济</a:t>
            </a:r>
            <a:r>
              <a:rPr lang="en-US" altLang="zh-CN" sz="32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32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重要、难做，但现在可做</a:t>
            </a:r>
            <a:endParaRPr lang="zh-CN" altLang="en-US" sz="32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12745085" y="4506595"/>
            <a:ext cx="1876425" cy="1979295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pic>
        <p:nvPicPr>
          <p:cNvPr id="44" name="图形 43" descr="箭头: 直 纯色填充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5514524" y="7186832"/>
            <a:ext cx="914400" cy="914400"/>
          </a:xfrm>
          <a:prstGeom prst="rect">
            <a:avLst/>
          </a:prstGeom>
        </p:spPr>
      </p:pic>
      <p:sp>
        <p:nvSpPr>
          <p:cNvPr id="22" name="Text 7"/>
          <p:cNvSpPr/>
          <p:nvPr>
            <p:custDataLst>
              <p:tags r:id="rId6"/>
            </p:custDataLst>
          </p:nvPr>
        </p:nvSpPr>
        <p:spPr>
          <a:xfrm>
            <a:off x="922655" y="2041525"/>
            <a:ext cx="4259580" cy="421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为什么这件事难，为什么电力</a:t>
            </a: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值得看</a:t>
            </a:r>
            <a:endParaRPr lang="zh-CN" altLang="en-US" sz="20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Shape 24"/>
          <p:cNvSpPr/>
          <p:nvPr>
            <p:custDataLst>
              <p:tags r:id="rId7"/>
            </p:custDataLst>
          </p:nvPr>
        </p:nvSpPr>
        <p:spPr>
          <a:xfrm>
            <a:off x="229870" y="1132205"/>
            <a:ext cx="522605" cy="48133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7" name="Text 25"/>
          <p:cNvSpPr/>
          <p:nvPr>
            <p:custDataLst>
              <p:tags r:id="rId8"/>
            </p:custDataLst>
          </p:nvPr>
        </p:nvSpPr>
        <p:spPr>
          <a:xfrm>
            <a:off x="280670" y="1181100"/>
            <a:ext cx="37846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endParaRPr lang="en-US" sz="1050" dirty="0"/>
          </a:p>
        </p:txBody>
      </p:sp>
      <p:sp>
        <p:nvSpPr>
          <p:cNvPr id="25" name="Shape 24"/>
          <p:cNvSpPr/>
          <p:nvPr>
            <p:custDataLst>
              <p:tags r:id="rId9"/>
            </p:custDataLst>
          </p:nvPr>
        </p:nvSpPr>
        <p:spPr>
          <a:xfrm>
            <a:off x="229870" y="2041525"/>
            <a:ext cx="522605" cy="48133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8" name="Text 25"/>
          <p:cNvSpPr/>
          <p:nvPr>
            <p:custDataLst>
              <p:tags r:id="rId10"/>
            </p:custDataLst>
          </p:nvPr>
        </p:nvSpPr>
        <p:spPr>
          <a:xfrm>
            <a:off x="302260" y="2041525"/>
            <a:ext cx="37846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lang="en-US" altLang="zh-CN" sz="24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9" name="Text 8"/>
          <p:cNvSpPr/>
          <p:nvPr>
            <p:custDataLst>
              <p:tags r:id="rId11"/>
            </p:custDataLst>
          </p:nvPr>
        </p:nvSpPr>
        <p:spPr>
          <a:xfrm>
            <a:off x="658495" y="2393315"/>
            <a:ext cx="4761865" cy="24244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难点：传统方法多依赖单一数据源，能看到波动，但不知道原因。</a:t>
            </a:r>
            <a:endParaRPr lang="zh-CN" altLang="en-US" sz="16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电力优势：电力数据高频、连续、覆盖广、客观真实，更能反应经济变化。但是电量变化受多种因素</a:t>
            </a:r>
            <a:r>
              <a:rPr lang="zh-CN" altLang="en-US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影响。</a:t>
            </a:r>
            <a:endParaRPr lang="zh-CN" altLang="en-US" sz="16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关键：将经济信号从非经济扰动中剥离出来</a:t>
            </a:r>
            <a:endParaRPr lang="zh-CN" altLang="en-US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0" name="Text 7"/>
          <p:cNvSpPr/>
          <p:nvPr>
            <p:custDataLst>
              <p:tags r:id="rId12"/>
            </p:custDataLst>
          </p:nvPr>
        </p:nvSpPr>
        <p:spPr>
          <a:xfrm>
            <a:off x="922655" y="4727575"/>
            <a:ext cx="4259580" cy="421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为什么</a:t>
            </a:r>
            <a:r>
              <a:rPr lang="en-US" altLang="zh-CN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</a:t>
            </a: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适合解决这个</a:t>
            </a: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问题</a:t>
            </a:r>
            <a:endParaRPr lang="zh-CN" altLang="en-US" sz="20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" name="Shape 24"/>
          <p:cNvSpPr/>
          <p:nvPr>
            <p:custDataLst>
              <p:tags r:id="rId13"/>
            </p:custDataLst>
          </p:nvPr>
        </p:nvSpPr>
        <p:spPr>
          <a:xfrm>
            <a:off x="229235" y="4667885"/>
            <a:ext cx="522605" cy="48133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1" name="Text 25"/>
          <p:cNvSpPr/>
          <p:nvPr>
            <p:custDataLst>
              <p:tags r:id="rId14"/>
            </p:custDataLst>
          </p:nvPr>
        </p:nvSpPr>
        <p:spPr>
          <a:xfrm>
            <a:off x="302260" y="4722495"/>
            <a:ext cx="37846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endParaRPr lang="en-US" altLang="zh-CN" sz="24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6" name="Text 8"/>
          <p:cNvSpPr/>
          <p:nvPr>
            <p:custDataLst>
              <p:tags r:id="rId15"/>
            </p:custDataLst>
          </p:nvPr>
        </p:nvSpPr>
        <p:spPr>
          <a:xfrm>
            <a:off x="487045" y="5224145"/>
            <a:ext cx="5059680" cy="140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</a:t>
            </a:r>
            <a:r>
              <a:rPr lang="zh-CN" altLang="en-US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擅长处理多源异构数据融合和非线性复杂关系</a:t>
            </a:r>
            <a:r>
              <a:rPr lang="zh-CN" altLang="en-US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建模</a:t>
            </a:r>
            <a:endParaRPr lang="zh-CN" altLang="en-US" sz="16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大模型适合异动解释、报告生成、交互</a:t>
            </a:r>
            <a:r>
              <a:rPr lang="zh-CN" altLang="en-US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问答</a:t>
            </a:r>
            <a:endParaRPr lang="zh-CN" altLang="en-US" sz="16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</a:t>
            </a:r>
            <a:r>
              <a:rPr lang="zh-CN" altLang="en-US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并非取代传统方法，而是实现</a:t>
            </a:r>
            <a:r>
              <a:rPr lang="en-US" altLang="zh-CN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解耦</a:t>
            </a:r>
            <a:r>
              <a:rPr lang="en-US" altLang="zh-CN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归因</a:t>
            </a:r>
            <a:r>
              <a:rPr lang="en-US" altLang="zh-CN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推理</a:t>
            </a:r>
            <a:r>
              <a:rPr lang="en-US" altLang="zh-CN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生成</a:t>
            </a:r>
            <a:r>
              <a:rPr lang="en-US" altLang="zh-CN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全流程</a:t>
            </a:r>
            <a:r>
              <a:rPr lang="zh-CN" altLang="en-US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增强</a:t>
            </a:r>
            <a:endParaRPr lang="zh-CN" altLang="en-US" sz="16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4" descr="ChatGPT Image 2026年4月22日 10_30_4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46725" y="1109980"/>
            <a:ext cx="6506210" cy="56826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-635" y="-635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-635" y="635"/>
            <a:ext cx="12192635" cy="6857365"/>
          </a:xfrm>
          <a:prstGeom prst="rect">
            <a:avLst/>
          </a:prstGeom>
          <a:gradFill flip="none" rotWithShape="1">
            <a:gsLst>
              <a:gs pos="50900">
                <a:srgbClr val="0070C0">
                  <a:alpha val="0"/>
                </a:srgbClr>
              </a:gs>
              <a:gs pos="0">
                <a:srgbClr val="0070C0">
                  <a:alpha val="0"/>
                </a:srgbClr>
              </a:gs>
              <a:gs pos="100000">
                <a:srgbClr val="0070C0">
                  <a:alpha val="40000"/>
                </a:srgbClr>
              </a:gs>
            </a:gsLst>
            <a:lin ang="2700000" scaled="0"/>
            <a:tileRect/>
          </a:gra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2" name="Text 0"/>
          <p:cNvSpPr/>
          <p:nvPr/>
        </p:nvSpPr>
        <p:spPr>
          <a:xfrm>
            <a:off x="658495" y="325755"/>
            <a:ext cx="3735705" cy="661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2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研究目标与关键问题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58368" y="1042416"/>
            <a:ext cx="10835640" cy="0"/>
          </a:xfrm>
          <a:prstGeom prst="line">
            <a:avLst/>
          </a:prstGeom>
          <a:noFill/>
          <a:ln w="12700">
            <a:solidFill>
              <a:srgbClr val="C6D9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3430" y="1152525"/>
            <a:ext cx="2508250" cy="4432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8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四个研究目标</a:t>
            </a:r>
            <a:endParaRPr lang="zh-CN" altLang="en-US" sz="28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73430" y="4746625"/>
            <a:ext cx="2870835" cy="37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8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拟解决的关键问题</a:t>
            </a:r>
            <a:endParaRPr lang="zh-CN" altLang="en-US" sz="28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Shape 24"/>
          <p:cNvSpPr/>
          <p:nvPr>
            <p:custDataLst>
              <p:tags r:id="rId1"/>
            </p:custDataLst>
          </p:nvPr>
        </p:nvSpPr>
        <p:spPr>
          <a:xfrm>
            <a:off x="960120" y="5634355"/>
            <a:ext cx="522605" cy="48133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7" name="Text 25"/>
          <p:cNvSpPr/>
          <p:nvPr>
            <p:custDataLst>
              <p:tags r:id="rId2"/>
            </p:custDataLst>
          </p:nvPr>
        </p:nvSpPr>
        <p:spPr>
          <a:xfrm>
            <a:off x="1011047" y="5796026"/>
            <a:ext cx="42062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01</a:t>
            </a:r>
            <a:endParaRPr lang="en-US" sz="1050" dirty="0"/>
          </a:p>
        </p:txBody>
      </p:sp>
      <p:sp>
        <p:nvSpPr>
          <p:cNvPr id="28" name="Text 26"/>
          <p:cNvSpPr/>
          <p:nvPr>
            <p:custDataLst>
              <p:tags r:id="rId3"/>
            </p:custDataLst>
          </p:nvPr>
        </p:nvSpPr>
        <p:spPr>
          <a:xfrm>
            <a:off x="1541399" y="5658866"/>
            <a:ext cx="14813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复杂关系如何量化？</a:t>
            </a: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0" name="Shape 28"/>
          <p:cNvSpPr/>
          <p:nvPr>
            <p:custDataLst>
              <p:tags r:id="rId4"/>
            </p:custDataLst>
          </p:nvPr>
        </p:nvSpPr>
        <p:spPr>
          <a:xfrm>
            <a:off x="3819525" y="5612765"/>
            <a:ext cx="509270" cy="509270"/>
          </a:xfrm>
          <a:prstGeom prst="ellipse">
            <a:avLst/>
          </a:prstGeom>
          <a:solidFill>
            <a:srgbClr val="25B59A"/>
          </a:solidFill>
          <a:ln w="12700">
            <a:solidFill>
              <a:srgbClr val="25B59A"/>
            </a:solidFill>
            <a:prstDash val="solid"/>
          </a:ln>
        </p:spPr>
      </p:sp>
      <p:sp>
        <p:nvSpPr>
          <p:cNvPr id="31" name="Text 29"/>
          <p:cNvSpPr/>
          <p:nvPr>
            <p:custDataLst>
              <p:tags r:id="rId5"/>
            </p:custDataLst>
          </p:nvPr>
        </p:nvSpPr>
        <p:spPr>
          <a:xfrm>
            <a:off x="3863975" y="5796026"/>
            <a:ext cx="42062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02</a:t>
            </a:r>
            <a:endParaRPr lang="en-US" sz="1050" dirty="0"/>
          </a:p>
        </p:txBody>
      </p:sp>
      <p:sp>
        <p:nvSpPr>
          <p:cNvPr id="32" name="Text 30"/>
          <p:cNvSpPr/>
          <p:nvPr>
            <p:custDataLst>
              <p:tags r:id="rId6"/>
            </p:custDataLst>
          </p:nvPr>
        </p:nvSpPr>
        <p:spPr>
          <a:xfrm>
            <a:off x="4394327" y="5658866"/>
            <a:ext cx="14813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多源扰动如何精准解耦？</a:t>
            </a: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4" name="Shape 32"/>
          <p:cNvSpPr/>
          <p:nvPr>
            <p:custDataLst>
              <p:tags r:id="rId7"/>
            </p:custDataLst>
          </p:nvPr>
        </p:nvSpPr>
        <p:spPr>
          <a:xfrm>
            <a:off x="6684645" y="5630545"/>
            <a:ext cx="485140" cy="485140"/>
          </a:xfrm>
          <a:prstGeom prst="ellipse">
            <a:avLst/>
          </a:prstGeom>
          <a:solidFill>
            <a:srgbClr val="F29D38"/>
          </a:solidFill>
          <a:ln w="12700">
            <a:solidFill>
              <a:srgbClr val="F29D38"/>
            </a:solidFill>
            <a:prstDash val="solid"/>
          </a:ln>
        </p:spPr>
      </p:sp>
      <p:sp>
        <p:nvSpPr>
          <p:cNvPr id="35" name="Text 33"/>
          <p:cNvSpPr/>
          <p:nvPr>
            <p:custDataLst>
              <p:tags r:id="rId8"/>
            </p:custDataLst>
          </p:nvPr>
        </p:nvSpPr>
        <p:spPr>
          <a:xfrm>
            <a:off x="6716903" y="5796026"/>
            <a:ext cx="42062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03</a:t>
            </a:r>
            <a:endParaRPr lang="en-US" sz="1050" dirty="0"/>
          </a:p>
        </p:txBody>
      </p:sp>
      <p:sp>
        <p:nvSpPr>
          <p:cNvPr id="36" name="Text 34"/>
          <p:cNvSpPr/>
          <p:nvPr>
            <p:custDataLst>
              <p:tags r:id="rId9"/>
            </p:custDataLst>
          </p:nvPr>
        </p:nvSpPr>
        <p:spPr>
          <a:xfrm>
            <a:off x="7247255" y="5658866"/>
            <a:ext cx="14813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图谱、大模型与异常检测如何融合？</a:t>
            </a: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8" name="Shape 36"/>
          <p:cNvSpPr/>
          <p:nvPr>
            <p:custDataLst>
              <p:tags r:id="rId10"/>
            </p:custDataLst>
          </p:nvPr>
        </p:nvSpPr>
        <p:spPr>
          <a:xfrm>
            <a:off x="9570085" y="5650865"/>
            <a:ext cx="464820" cy="464820"/>
          </a:xfrm>
          <a:prstGeom prst="ellipse">
            <a:avLst/>
          </a:prstGeom>
          <a:solidFill>
            <a:srgbClr val="49B675"/>
          </a:solidFill>
          <a:ln w="12700">
            <a:solidFill>
              <a:srgbClr val="49B675"/>
            </a:solidFill>
            <a:prstDash val="solid"/>
          </a:ln>
        </p:spPr>
      </p:sp>
      <p:sp>
        <p:nvSpPr>
          <p:cNvPr id="39" name="Text 37"/>
          <p:cNvSpPr/>
          <p:nvPr>
            <p:custDataLst>
              <p:tags r:id="rId11"/>
            </p:custDataLst>
          </p:nvPr>
        </p:nvSpPr>
        <p:spPr>
          <a:xfrm>
            <a:off x="9569831" y="5796026"/>
            <a:ext cx="42062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04</a:t>
            </a:r>
            <a:endParaRPr lang="en-US" sz="1050" dirty="0"/>
          </a:p>
        </p:txBody>
      </p:sp>
      <p:sp>
        <p:nvSpPr>
          <p:cNvPr id="40" name="Text 38"/>
          <p:cNvSpPr/>
          <p:nvPr>
            <p:custDataLst>
              <p:tags r:id="rId12"/>
            </p:custDataLst>
          </p:nvPr>
        </p:nvSpPr>
        <p:spPr>
          <a:xfrm>
            <a:off x="10100183" y="5658866"/>
            <a:ext cx="14813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多智能体如何协同输出可信结果？</a:t>
            </a: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28054"/>
            <a:ext cx="365760" cy="164592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63" name="矩形 62"/>
          <p:cNvSpPr/>
          <p:nvPr/>
        </p:nvSpPr>
        <p:spPr>
          <a:xfrm>
            <a:off x="891540" y="1770380"/>
            <a:ext cx="5074920" cy="1043940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24712" y="1887855"/>
            <a:ext cx="46085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目标 1：感知</a:t>
            </a: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智能体</a:t>
            </a:r>
            <a:endParaRPr lang="zh-CN" altLang="en-US" sz="24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24712" y="2235327"/>
            <a:ext cx="460857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实现多源数据理解与异常识别</a:t>
            </a: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891540" y="3125470"/>
            <a:ext cx="5074920" cy="1043940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6339840" y="3125470"/>
            <a:ext cx="5074920" cy="1043940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6339840" y="1770380"/>
            <a:ext cx="5074920" cy="1043940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19672" y="1887855"/>
            <a:ext cx="46085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目标 2：诊断</a:t>
            </a: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智能体</a:t>
            </a:r>
            <a:endParaRPr lang="zh-CN" altLang="en-US" sz="24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19545" y="2171700"/>
            <a:ext cx="4425315" cy="5416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实现基于知识增强的原因分析</a:t>
            </a: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24712" y="3204591"/>
            <a:ext cx="46085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目标 3：生成</a:t>
            </a: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智能体</a:t>
            </a:r>
            <a:endParaRPr lang="zh-CN" altLang="en-US" sz="24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24585" y="3486150"/>
            <a:ext cx="5205095" cy="589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实现自动报告生成与问答交互</a:t>
            </a: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519545" y="3125470"/>
            <a:ext cx="460883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目标 4：多智能体协同</a:t>
            </a: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机制</a:t>
            </a:r>
            <a:endParaRPr lang="zh-CN" altLang="en-US" sz="24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19545" y="3620770"/>
            <a:ext cx="4908550" cy="402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实现从数据到结论的闭环输出</a:t>
            </a: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13970" y="12700"/>
            <a:ext cx="12179300" cy="68446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0900">
                <a:srgbClr val="0070C0">
                  <a:alpha val="0"/>
                </a:srgbClr>
              </a:gs>
              <a:gs pos="0">
                <a:srgbClr val="0070C0">
                  <a:alpha val="0"/>
                </a:srgbClr>
              </a:gs>
              <a:gs pos="100000">
                <a:srgbClr val="0070C0">
                  <a:alpha val="40000"/>
                </a:srgbClr>
              </a:gs>
            </a:gsLst>
            <a:lin ang="2700000" scaled="0"/>
            <a:tileRect/>
          </a:gra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58368" y="1042416"/>
            <a:ext cx="10835640" cy="0"/>
          </a:xfrm>
          <a:prstGeom prst="line">
            <a:avLst/>
          </a:prstGeom>
          <a:noFill/>
          <a:ln w="12700">
            <a:solidFill>
              <a:srgbClr val="C6D9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7418197"/>
            <a:ext cx="598017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把“用电数据”转化为“经济态势感知能力”</a:t>
            </a:r>
            <a:endParaRPr lang="en-US" sz="2300" dirty="0"/>
          </a:p>
        </p:txBody>
      </p:sp>
      <p:sp>
        <p:nvSpPr>
          <p:cNvPr id="25" name="Text 23"/>
          <p:cNvSpPr/>
          <p:nvPr>
            <p:custDataLst>
              <p:tags r:id="rId1"/>
            </p:custDataLst>
          </p:nvPr>
        </p:nvSpPr>
        <p:spPr>
          <a:xfrm>
            <a:off x="554990" y="8812530"/>
            <a:ext cx="1688465" cy="492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8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应用价值</a:t>
            </a:r>
            <a:endParaRPr lang="en-US" sz="1500" dirty="0"/>
          </a:p>
        </p:txBody>
      </p:sp>
      <p:sp>
        <p:nvSpPr>
          <p:cNvPr id="26" name="Text 24"/>
          <p:cNvSpPr/>
          <p:nvPr>
            <p:custDataLst>
              <p:tags r:id="rId2"/>
            </p:custDataLst>
          </p:nvPr>
        </p:nvSpPr>
        <p:spPr>
          <a:xfrm>
            <a:off x="2188845" y="8843645"/>
            <a:ext cx="3818255" cy="467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支撑行业异动监测与精准分析</a:t>
            </a: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8" name="Text 26"/>
          <p:cNvSpPr/>
          <p:nvPr>
            <p:custDataLst>
              <p:tags r:id="rId3"/>
            </p:custDataLst>
          </p:nvPr>
        </p:nvSpPr>
        <p:spPr>
          <a:xfrm>
            <a:off x="502920" y="9470390"/>
            <a:ext cx="179197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8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决策价值</a:t>
            </a:r>
            <a:endParaRPr lang="en-US" sz="1500" dirty="0"/>
          </a:p>
        </p:txBody>
      </p:sp>
      <p:sp>
        <p:nvSpPr>
          <p:cNvPr id="29" name="Text 27"/>
          <p:cNvSpPr/>
          <p:nvPr>
            <p:custDataLst>
              <p:tags r:id="rId4"/>
            </p:custDataLst>
          </p:nvPr>
        </p:nvSpPr>
        <p:spPr>
          <a:xfrm>
            <a:off x="2374900" y="9428480"/>
            <a:ext cx="343471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服务政府与相关部门智能研判</a:t>
            </a: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928620" y="1083310"/>
            <a:ext cx="5943600" cy="556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让电力数据开口说话，让经济脉搏清晰可见</a:t>
            </a:r>
            <a:endParaRPr lang="zh-CN" altLang="en-US" sz="20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132320" y="11262614"/>
            <a:ext cx="365760" cy="164592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74040" y="359410"/>
            <a:ext cx="8639175" cy="475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2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</a:t>
            </a:r>
            <a:r>
              <a:rPr lang="zh-CN" altLang="en-US" sz="32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价值：四重突破，赋能电力经济智能决策</a:t>
            </a:r>
            <a:endParaRPr lang="zh-CN" altLang="en-US" sz="32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12745085" y="4506595"/>
            <a:ext cx="1876425" cy="1979295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22" name="Text 20"/>
          <p:cNvSpPr/>
          <p:nvPr>
            <p:custDataLst>
              <p:tags r:id="rId5"/>
            </p:custDataLst>
          </p:nvPr>
        </p:nvSpPr>
        <p:spPr>
          <a:xfrm>
            <a:off x="502920" y="8229600"/>
            <a:ext cx="1791970" cy="454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8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理论价值</a:t>
            </a:r>
            <a:endParaRPr lang="en-US" sz="1500" dirty="0"/>
          </a:p>
        </p:txBody>
      </p:sp>
      <p:sp>
        <p:nvSpPr>
          <p:cNvPr id="23" name="Text 21"/>
          <p:cNvSpPr/>
          <p:nvPr>
            <p:custDataLst>
              <p:tags r:id="rId6"/>
            </p:custDataLst>
          </p:nvPr>
        </p:nvSpPr>
        <p:spPr>
          <a:xfrm>
            <a:off x="2385695" y="8229600"/>
            <a:ext cx="3651250" cy="474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构建电力</a:t>
            </a:r>
            <a:r>
              <a:rPr lang="en-US" altLang="zh-CN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经济动态耦合框架</a:t>
            </a:r>
            <a:endParaRPr lang="en-US" sz="1150" dirty="0"/>
          </a:p>
        </p:txBody>
      </p:sp>
      <p:pic>
        <p:nvPicPr>
          <p:cNvPr id="44" name="图形 43" descr="箭头: 直 纯色填充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5796464" y="9484262"/>
            <a:ext cx="914400" cy="914400"/>
          </a:xfrm>
          <a:prstGeom prst="rect">
            <a:avLst/>
          </a:prstGeom>
        </p:spPr>
      </p:pic>
      <p:sp>
        <p:nvSpPr>
          <p:cNvPr id="38" name="矩形 37"/>
          <p:cNvSpPr/>
          <p:nvPr>
            <p:custDataLst>
              <p:tags r:id="rId9"/>
            </p:custDataLst>
          </p:nvPr>
        </p:nvSpPr>
        <p:spPr>
          <a:xfrm>
            <a:off x="998220" y="1765300"/>
            <a:ext cx="5074920" cy="2072005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39" name="Text 7"/>
          <p:cNvSpPr/>
          <p:nvPr>
            <p:custDataLst>
              <p:tags r:id="rId10"/>
            </p:custDataLst>
          </p:nvPr>
        </p:nvSpPr>
        <p:spPr>
          <a:xfrm>
            <a:off x="1124712" y="1887855"/>
            <a:ext cx="46085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分析方式</a:t>
            </a: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升级</a:t>
            </a:r>
            <a:endParaRPr lang="zh-CN" altLang="en-US" sz="24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0" name="Text 8"/>
          <p:cNvSpPr/>
          <p:nvPr>
            <p:custDataLst>
              <p:tags r:id="rId11"/>
            </p:custDataLst>
          </p:nvPr>
        </p:nvSpPr>
        <p:spPr>
          <a:xfrm>
            <a:off x="1124585" y="2180590"/>
            <a:ext cx="4608830" cy="1577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4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</a:t>
            </a:r>
            <a:r>
              <a:rPr lang="en-US" altLang="zh-CN" sz="24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4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单一模型</a:t>
            </a:r>
            <a:r>
              <a:rPr lang="en-US" altLang="zh-CN" sz="24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+ </a:t>
            </a:r>
            <a:r>
              <a:rPr lang="zh-CN" altLang="en-US" sz="24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人工判断</a:t>
            </a:r>
            <a:r>
              <a:rPr lang="en-US" altLang="zh-CN" sz="24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4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升级为</a:t>
            </a:r>
            <a:r>
              <a:rPr lang="en-US" altLang="zh-CN" sz="24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4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智能体驱动的自动分析流程</a:t>
            </a:r>
            <a:r>
              <a:rPr lang="en-US" altLang="zh-CN" sz="24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endParaRPr lang="en-US" altLang="zh-CN" sz="24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1" name="矩形 40"/>
          <p:cNvSpPr/>
          <p:nvPr>
            <p:custDataLst>
              <p:tags r:id="rId12"/>
            </p:custDataLst>
          </p:nvPr>
        </p:nvSpPr>
        <p:spPr>
          <a:xfrm>
            <a:off x="998220" y="4480560"/>
            <a:ext cx="5074920" cy="1945640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42" name="矩形 41"/>
          <p:cNvSpPr/>
          <p:nvPr>
            <p:custDataLst>
              <p:tags r:id="rId13"/>
            </p:custDataLst>
          </p:nvPr>
        </p:nvSpPr>
        <p:spPr>
          <a:xfrm>
            <a:off x="6446520" y="4480560"/>
            <a:ext cx="5074920" cy="1945640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43" name="矩形 42"/>
          <p:cNvSpPr/>
          <p:nvPr>
            <p:custDataLst>
              <p:tags r:id="rId14"/>
            </p:custDataLst>
          </p:nvPr>
        </p:nvSpPr>
        <p:spPr>
          <a:xfrm>
            <a:off x="6446520" y="1749425"/>
            <a:ext cx="5074920" cy="2092960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45" name="Text 11"/>
          <p:cNvSpPr/>
          <p:nvPr>
            <p:custDataLst>
              <p:tags r:id="rId15"/>
            </p:custDataLst>
          </p:nvPr>
        </p:nvSpPr>
        <p:spPr>
          <a:xfrm>
            <a:off x="6626352" y="1888490"/>
            <a:ext cx="46085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解释能力</a:t>
            </a: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增强</a:t>
            </a:r>
            <a:endParaRPr lang="zh-CN" altLang="en-US" sz="24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6" name="Text 12"/>
          <p:cNvSpPr/>
          <p:nvPr>
            <p:custDataLst>
              <p:tags r:id="rId16"/>
            </p:custDataLst>
          </p:nvPr>
        </p:nvSpPr>
        <p:spPr>
          <a:xfrm>
            <a:off x="6626225" y="2287905"/>
            <a:ext cx="4425315" cy="1442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0" fontAlgn="auto">
              <a:lnSpc>
                <a:spcPct val="150000"/>
              </a:lnSpc>
              <a:buNone/>
            </a:pPr>
            <a:r>
              <a:rPr lang="zh-CN" altLang="en-US" sz="24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</a:t>
            </a:r>
            <a:r>
              <a:rPr lang="en-US" altLang="zh-CN" sz="24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4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只能看出波动</a:t>
            </a:r>
            <a:r>
              <a:rPr lang="en-US" altLang="zh-CN" sz="24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4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升级为</a:t>
            </a:r>
            <a:r>
              <a:rPr lang="en-US" altLang="zh-CN" sz="24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4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既能看出波动，又能看懂原因</a:t>
            </a:r>
            <a:r>
              <a:rPr lang="en-US" altLang="zh-CN" sz="24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endParaRPr lang="zh-CN" altLang="en-US" sz="24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7" name="Text 15"/>
          <p:cNvSpPr/>
          <p:nvPr>
            <p:custDataLst>
              <p:tags r:id="rId17"/>
            </p:custDataLst>
          </p:nvPr>
        </p:nvSpPr>
        <p:spPr>
          <a:xfrm>
            <a:off x="1231392" y="4559681"/>
            <a:ext cx="46085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服务形式扩展</a:t>
            </a:r>
            <a:endParaRPr lang="zh-CN" altLang="en-US" sz="24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0" name="Text 16"/>
          <p:cNvSpPr/>
          <p:nvPr>
            <p:custDataLst>
              <p:tags r:id="rId18"/>
            </p:custDataLst>
          </p:nvPr>
        </p:nvSpPr>
        <p:spPr>
          <a:xfrm>
            <a:off x="1173480" y="4830445"/>
            <a:ext cx="4559300" cy="15576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0" fontAlgn="auto">
              <a:lnSpc>
                <a:spcPct val="150000"/>
              </a:lnSpc>
              <a:buNone/>
            </a:pPr>
            <a:r>
              <a:rPr lang="zh-CN" altLang="en-US" sz="24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提供</a:t>
            </a:r>
            <a:r>
              <a:rPr lang="en-US" altLang="zh-CN" sz="24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4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报告生成</a:t>
            </a:r>
            <a:r>
              <a:rPr lang="en-US" altLang="zh-CN" sz="24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</a:t>
            </a:r>
            <a:r>
              <a:rPr lang="zh-CN" altLang="en-US" sz="24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交互问答</a:t>
            </a:r>
            <a:r>
              <a:rPr lang="en-US" altLang="zh-CN" sz="24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4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的动态服务</a:t>
            </a:r>
            <a:endParaRPr lang="zh-CN" altLang="en-US" sz="24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1" name="Text 19"/>
          <p:cNvSpPr/>
          <p:nvPr>
            <p:custDataLst>
              <p:tags r:id="rId19"/>
            </p:custDataLst>
          </p:nvPr>
        </p:nvSpPr>
        <p:spPr>
          <a:xfrm>
            <a:off x="6626225" y="4480560"/>
            <a:ext cx="460883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系统闭环</a:t>
            </a:r>
            <a:endParaRPr lang="zh-CN" altLang="en-US" sz="24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2" name="Text 20"/>
          <p:cNvSpPr/>
          <p:nvPr>
            <p:custDataLst>
              <p:tags r:id="rId20"/>
            </p:custDataLst>
          </p:nvPr>
        </p:nvSpPr>
        <p:spPr>
          <a:xfrm>
            <a:off x="6626225" y="4975860"/>
            <a:ext cx="4338955" cy="14058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0" fontAlgn="auto">
              <a:lnSpc>
                <a:spcPct val="150000"/>
              </a:lnSpc>
              <a:buNone/>
            </a:pPr>
            <a:r>
              <a:rPr lang="en-US" altLang="zh-CN" sz="24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24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解耦</a:t>
            </a:r>
            <a:r>
              <a:rPr lang="en-US" altLang="zh-CN" sz="24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4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归因</a:t>
            </a:r>
            <a:r>
              <a:rPr lang="en-US" altLang="zh-CN" sz="24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4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推理</a:t>
            </a:r>
            <a:r>
              <a:rPr lang="en-US" altLang="zh-CN" sz="24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4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生成</a:t>
            </a:r>
            <a:r>
              <a:rPr lang="en-US" altLang="zh-CN" sz="24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24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全流程增强</a:t>
            </a: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/>
        </p:nvSpPr>
        <p:spPr>
          <a:xfrm>
            <a:off x="-635" y="-635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-1270" y="-635"/>
            <a:ext cx="12192635" cy="6857365"/>
          </a:xfrm>
          <a:prstGeom prst="rect">
            <a:avLst/>
          </a:prstGeom>
          <a:gradFill flip="none" rotWithShape="1">
            <a:gsLst>
              <a:gs pos="50900">
                <a:srgbClr val="0070C0">
                  <a:alpha val="0"/>
                </a:srgbClr>
              </a:gs>
              <a:gs pos="0">
                <a:srgbClr val="0070C0">
                  <a:alpha val="0"/>
                </a:srgbClr>
              </a:gs>
              <a:gs pos="100000">
                <a:srgbClr val="0070C0">
                  <a:alpha val="40000"/>
                </a:srgbClr>
              </a:gs>
            </a:gsLst>
            <a:lin ang="2700000" scaled="0"/>
            <a:tileRect/>
          </a:gra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2" name="Text 0"/>
          <p:cNvSpPr/>
          <p:nvPr/>
        </p:nvSpPr>
        <p:spPr>
          <a:xfrm>
            <a:off x="658495" y="511810"/>
            <a:ext cx="3803015" cy="475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2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研究方法与核心</a:t>
            </a:r>
            <a:r>
              <a:rPr lang="zh-CN" altLang="en-US" sz="32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逻辑</a:t>
            </a:r>
            <a:endParaRPr lang="zh-CN" altLang="en-US" sz="32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58368" y="1042416"/>
            <a:ext cx="10835640" cy="0"/>
          </a:xfrm>
          <a:prstGeom prst="line">
            <a:avLst/>
          </a:prstGeom>
          <a:noFill/>
          <a:ln w="12700">
            <a:solidFill>
              <a:srgbClr val="C6D9EE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1"/>
            </p:custDataLst>
          </p:nvPr>
        </p:nvSpPr>
        <p:spPr>
          <a:xfrm>
            <a:off x="774700" y="1194435"/>
            <a:ext cx="1481455" cy="3543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多源数据输入</a:t>
            </a:r>
            <a:endParaRPr lang="zh-CN" altLang="en-US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Text 12"/>
          <p:cNvSpPr/>
          <p:nvPr>
            <p:custDataLst>
              <p:tags r:id="rId2"/>
            </p:custDataLst>
          </p:nvPr>
        </p:nvSpPr>
        <p:spPr>
          <a:xfrm>
            <a:off x="784987" y="1656588"/>
            <a:ext cx="144475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电量、气象、</a:t>
            </a:r>
            <a:endParaRPr lang="zh-CN" altLang="en-US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zh-CN" altLang="en-US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节假日、经济</a:t>
            </a:r>
            <a:endParaRPr lang="zh-CN" altLang="en-US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Text 15"/>
          <p:cNvSpPr/>
          <p:nvPr>
            <p:custDataLst>
              <p:tags r:id="rId3"/>
            </p:custDataLst>
          </p:nvPr>
        </p:nvSpPr>
        <p:spPr>
          <a:xfrm>
            <a:off x="2968244" y="1253109"/>
            <a:ext cx="14813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特征解耦分析</a:t>
            </a:r>
            <a:endParaRPr lang="zh-CN" altLang="en-US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 16"/>
          <p:cNvSpPr/>
          <p:nvPr>
            <p:custDataLst>
              <p:tags r:id="rId4"/>
            </p:custDataLst>
          </p:nvPr>
        </p:nvSpPr>
        <p:spPr>
          <a:xfrm>
            <a:off x="2843530" y="1656080"/>
            <a:ext cx="1724025" cy="4940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剔除常规波动，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识别跨尺度特征</a:t>
            </a:r>
            <a:endParaRPr lang="en-US" sz="1140" dirty="0"/>
          </a:p>
        </p:txBody>
      </p:sp>
      <p:sp>
        <p:nvSpPr>
          <p:cNvPr id="21" name="Text 19"/>
          <p:cNvSpPr/>
          <p:nvPr>
            <p:custDataLst>
              <p:tags r:id="rId5"/>
            </p:custDataLst>
          </p:nvPr>
        </p:nvSpPr>
        <p:spPr>
          <a:xfrm>
            <a:off x="5299964" y="1253109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知识增强诊断</a:t>
            </a:r>
            <a:endParaRPr lang="zh-CN" altLang="en-US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Text 20"/>
          <p:cNvSpPr/>
          <p:nvPr>
            <p:custDataLst>
              <p:tags r:id="rId6"/>
            </p:custDataLst>
          </p:nvPr>
        </p:nvSpPr>
        <p:spPr>
          <a:xfrm>
            <a:off x="5178425" y="1656715"/>
            <a:ext cx="1761490" cy="4940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知识图谱 + LLM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 VAE 检测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Text 23"/>
          <p:cNvSpPr/>
          <p:nvPr>
            <p:custDataLst>
              <p:tags r:id="rId7"/>
            </p:custDataLst>
          </p:nvPr>
        </p:nvSpPr>
        <p:spPr>
          <a:xfrm>
            <a:off x="7677404" y="1253109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多智能体协同</a:t>
            </a:r>
            <a:endParaRPr lang="zh-CN" altLang="en-US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Text 24"/>
          <p:cNvSpPr/>
          <p:nvPr>
            <p:custDataLst>
              <p:tags r:id="rId8"/>
            </p:custDataLst>
          </p:nvPr>
        </p:nvSpPr>
        <p:spPr>
          <a:xfrm>
            <a:off x="7740777" y="1656588"/>
            <a:ext cx="1481328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RAG 检索增强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 MCP 机制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9" name="Text 27"/>
          <p:cNvSpPr/>
          <p:nvPr>
            <p:custDataLst>
              <p:tags r:id="rId9"/>
            </p:custDataLst>
          </p:nvPr>
        </p:nvSpPr>
        <p:spPr>
          <a:xfrm>
            <a:off x="10073132" y="1253109"/>
            <a:ext cx="12070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智能输出</a:t>
            </a:r>
            <a:endParaRPr lang="zh-CN" altLang="en-US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0" name="Text 28"/>
          <p:cNvSpPr/>
          <p:nvPr>
            <p:custDataLst>
              <p:tags r:id="rId10"/>
            </p:custDataLst>
          </p:nvPr>
        </p:nvSpPr>
        <p:spPr>
          <a:xfrm>
            <a:off x="10098405" y="1656588"/>
            <a:ext cx="117043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报告生成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 问答交互</a:t>
            </a:r>
            <a:endParaRPr lang="en-US" sz="1140" dirty="0"/>
          </a:p>
        </p:txBody>
      </p:sp>
      <p:grpSp>
        <p:nvGrpSpPr>
          <p:cNvPr id="119" name="组合 118"/>
          <p:cNvGrpSpPr/>
          <p:nvPr>
            <p:custDataLst>
              <p:tags r:id="rId11"/>
            </p:custDataLst>
          </p:nvPr>
        </p:nvGrpSpPr>
        <p:grpSpPr>
          <a:xfrm>
            <a:off x="2345945" y="1348540"/>
            <a:ext cx="7629916" cy="626670"/>
            <a:chOff x="3978331" y="2517048"/>
            <a:chExt cx="7629916" cy="626670"/>
          </a:xfrm>
        </p:grpSpPr>
        <p:sp>
          <p:nvSpPr>
            <p:cNvPr id="117" name="箭头: V 形 116"/>
            <p:cNvSpPr/>
            <p:nvPr>
              <p:custDataLst>
                <p:tags r:id="rId12"/>
              </p:custDataLst>
            </p:nvPr>
          </p:nvSpPr>
          <p:spPr>
            <a:xfrm>
              <a:off x="4092037" y="2517048"/>
              <a:ext cx="278480" cy="626670"/>
            </a:xfrm>
            <a:prstGeom prst="chevron">
              <a:avLst/>
            </a:prstGeom>
            <a:gradFill flip="none" rotWithShape="1">
              <a:gsLst>
                <a:gs pos="50900">
                  <a:srgbClr val="0070C0">
                    <a:alpha val="0"/>
                  </a:srgbClr>
                </a:gs>
                <a:gs pos="0">
                  <a:srgbClr val="0070C0">
                    <a:alpha val="60000"/>
                  </a:srgbClr>
                </a:gs>
                <a:gs pos="100000">
                  <a:srgbClr val="0070C0">
                    <a:alpha val="40000"/>
                  </a:srgbClr>
                </a:gs>
              </a:gsLst>
              <a:lin ang="13500000" scaled="1"/>
              <a:tileRect/>
            </a:gradFill>
            <a:ln w="762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endParaRPr>
            </a:p>
          </p:txBody>
        </p:sp>
        <p:sp>
          <p:nvSpPr>
            <p:cNvPr id="118" name="箭头: V 形 117"/>
            <p:cNvSpPr/>
            <p:nvPr>
              <p:custDataLst>
                <p:tags r:id="rId13"/>
              </p:custDataLst>
            </p:nvPr>
          </p:nvSpPr>
          <p:spPr>
            <a:xfrm>
              <a:off x="3978331" y="2650043"/>
              <a:ext cx="163337" cy="367560"/>
            </a:xfrm>
            <a:prstGeom prst="chevron">
              <a:avLst/>
            </a:prstGeom>
            <a:gradFill flip="none" rotWithShape="1">
              <a:gsLst>
                <a:gs pos="50900">
                  <a:srgbClr val="0070C0">
                    <a:alpha val="0"/>
                  </a:srgbClr>
                </a:gs>
                <a:gs pos="0">
                  <a:srgbClr val="0070C0">
                    <a:alpha val="60000"/>
                  </a:srgbClr>
                </a:gs>
                <a:gs pos="100000">
                  <a:srgbClr val="0070C0">
                    <a:alpha val="40000"/>
                  </a:srgbClr>
                </a:gs>
              </a:gsLst>
              <a:lin ang="13500000" scaled="1"/>
              <a:tileRect/>
            </a:gradFill>
            <a:ln w="762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endParaRPr>
            </a:p>
          </p:txBody>
        </p:sp>
        <p:sp>
          <p:nvSpPr>
            <p:cNvPr id="46" name="箭头: V 形 116"/>
            <p:cNvSpPr/>
            <p:nvPr>
              <p:custDataLst>
                <p:tags r:id="rId14"/>
              </p:custDataLst>
            </p:nvPr>
          </p:nvSpPr>
          <p:spPr>
            <a:xfrm>
              <a:off x="6459952" y="2517048"/>
              <a:ext cx="278480" cy="626670"/>
            </a:xfrm>
            <a:prstGeom prst="chevron">
              <a:avLst/>
            </a:prstGeom>
            <a:gradFill flip="none" rotWithShape="1">
              <a:gsLst>
                <a:gs pos="50900">
                  <a:srgbClr val="0070C0">
                    <a:alpha val="0"/>
                  </a:srgbClr>
                </a:gs>
                <a:gs pos="0">
                  <a:srgbClr val="0070C0">
                    <a:alpha val="60000"/>
                  </a:srgbClr>
                </a:gs>
                <a:gs pos="100000">
                  <a:srgbClr val="0070C0">
                    <a:alpha val="40000"/>
                  </a:srgbClr>
                </a:gs>
              </a:gsLst>
              <a:lin ang="13500000" scaled="1"/>
              <a:tileRect/>
            </a:gradFill>
            <a:ln w="762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endParaRPr>
            </a:p>
          </p:txBody>
        </p:sp>
        <p:sp>
          <p:nvSpPr>
            <p:cNvPr id="47" name="箭头: V 形 117"/>
            <p:cNvSpPr/>
            <p:nvPr>
              <p:custDataLst>
                <p:tags r:id="rId15"/>
              </p:custDataLst>
            </p:nvPr>
          </p:nvSpPr>
          <p:spPr>
            <a:xfrm>
              <a:off x="6360216" y="2647503"/>
              <a:ext cx="163337" cy="367560"/>
            </a:xfrm>
            <a:prstGeom prst="chevron">
              <a:avLst/>
            </a:prstGeom>
            <a:gradFill flip="none" rotWithShape="1">
              <a:gsLst>
                <a:gs pos="50900">
                  <a:srgbClr val="0070C0">
                    <a:alpha val="0"/>
                  </a:srgbClr>
                </a:gs>
                <a:gs pos="0">
                  <a:srgbClr val="0070C0">
                    <a:alpha val="60000"/>
                  </a:srgbClr>
                </a:gs>
                <a:gs pos="100000">
                  <a:srgbClr val="0070C0">
                    <a:alpha val="40000"/>
                  </a:srgbClr>
                </a:gs>
              </a:gsLst>
              <a:lin ang="13500000" scaled="1"/>
              <a:tileRect/>
            </a:gradFill>
            <a:ln w="762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endParaRPr>
            </a:p>
          </p:txBody>
        </p:sp>
        <p:sp>
          <p:nvSpPr>
            <p:cNvPr id="48" name="箭头: V 形 117"/>
            <p:cNvSpPr/>
            <p:nvPr>
              <p:custDataLst>
                <p:tags r:id="rId16"/>
              </p:custDataLst>
            </p:nvPr>
          </p:nvSpPr>
          <p:spPr>
            <a:xfrm>
              <a:off x="8644946" y="2647503"/>
              <a:ext cx="163337" cy="367560"/>
            </a:xfrm>
            <a:prstGeom prst="chevron">
              <a:avLst/>
            </a:prstGeom>
            <a:gradFill flip="none" rotWithShape="1">
              <a:gsLst>
                <a:gs pos="50900">
                  <a:srgbClr val="0070C0">
                    <a:alpha val="0"/>
                  </a:srgbClr>
                </a:gs>
                <a:gs pos="0">
                  <a:srgbClr val="0070C0">
                    <a:alpha val="60000"/>
                  </a:srgbClr>
                </a:gs>
                <a:gs pos="100000">
                  <a:srgbClr val="0070C0">
                    <a:alpha val="40000"/>
                  </a:srgbClr>
                </a:gs>
              </a:gsLst>
              <a:lin ang="13500000" scaled="1"/>
              <a:tileRect/>
            </a:gradFill>
            <a:ln w="762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endParaRPr>
            </a:p>
          </p:txBody>
        </p:sp>
        <p:sp>
          <p:nvSpPr>
            <p:cNvPr id="49" name="箭头: V 形 116"/>
            <p:cNvSpPr/>
            <p:nvPr>
              <p:custDataLst>
                <p:tags r:id="rId17"/>
              </p:custDataLst>
            </p:nvPr>
          </p:nvSpPr>
          <p:spPr>
            <a:xfrm>
              <a:off x="8754842" y="2517048"/>
              <a:ext cx="278480" cy="626670"/>
            </a:xfrm>
            <a:prstGeom prst="chevron">
              <a:avLst/>
            </a:prstGeom>
            <a:gradFill flip="none" rotWithShape="1">
              <a:gsLst>
                <a:gs pos="50900">
                  <a:srgbClr val="0070C0">
                    <a:alpha val="0"/>
                  </a:srgbClr>
                </a:gs>
                <a:gs pos="0">
                  <a:srgbClr val="0070C0">
                    <a:alpha val="60000"/>
                  </a:srgbClr>
                </a:gs>
                <a:gs pos="100000">
                  <a:srgbClr val="0070C0">
                    <a:alpha val="40000"/>
                  </a:srgbClr>
                </a:gs>
              </a:gsLst>
              <a:lin ang="13500000" scaled="1"/>
              <a:tileRect/>
            </a:gradFill>
            <a:ln w="762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endParaRPr>
            </a:p>
          </p:txBody>
        </p:sp>
        <p:sp>
          <p:nvSpPr>
            <p:cNvPr id="50" name="箭头: V 形 116"/>
            <p:cNvSpPr/>
            <p:nvPr>
              <p:custDataLst>
                <p:tags r:id="rId18"/>
              </p:custDataLst>
            </p:nvPr>
          </p:nvSpPr>
          <p:spPr>
            <a:xfrm>
              <a:off x="11329767" y="2517048"/>
              <a:ext cx="278480" cy="626670"/>
            </a:xfrm>
            <a:prstGeom prst="chevron">
              <a:avLst/>
            </a:prstGeom>
            <a:gradFill flip="none" rotWithShape="1">
              <a:gsLst>
                <a:gs pos="50900">
                  <a:srgbClr val="0070C0">
                    <a:alpha val="0"/>
                  </a:srgbClr>
                </a:gs>
                <a:gs pos="0">
                  <a:srgbClr val="0070C0">
                    <a:alpha val="60000"/>
                  </a:srgbClr>
                </a:gs>
                <a:gs pos="100000">
                  <a:srgbClr val="0070C0">
                    <a:alpha val="40000"/>
                  </a:srgbClr>
                </a:gs>
              </a:gsLst>
              <a:lin ang="13500000" scaled="1"/>
              <a:tileRect/>
            </a:gradFill>
            <a:ln w="762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endParaRPr>
            </a:p>
          </p:txBody>
        </p:sp>
        <p:sp>
          <p:nvSpPr>
            <p:cNvPr id="51" name="箭头: V 形 117"/>
            <p:cNvSpPr/>
            <p:nvPr>
              <p:custDataLst>
                <p:tags r:id="rId19"/>
              </p:custDataLst>
            </p:nvPr>
          </p:nvSpPr>
          <p:spPr>
            <a:xfrm>
              <a:off x="11210981" y="2660203"/>
              <a:ext cx="163337" cy="367560"/>
            </a:xfrm>
            <a:prstGeom prst="chevron">
              <a:avLst/>
            </a:prstGeom>
            <a:gradFill flip="none" rotWithShape="1">
              <a:gsLst>
                <a:gs pos="50900">
                  <a:srgbClr val="0070C0">
                    <a:alpha val="0"/>
                  </a:srgbClr>
                </a:gs>
                <a:gs pos="0">
                  <a:srgbClr val="0070C0">
                    <a:alpha val="60000"/>
                  </a:srgbClr>
                </a:gs>
                <a:gs pos="100000">
                  <a:srgbClr val="0070C0">
                    <a:alpha val="40000"/>
                  </a:srgbClr>
                </a:gs>
              </a:gsLst>
              <a:lin ang="13500000" scaled="1"/>
              <a:tileRect/>
            </a:gradFill>
            <a:ln w="762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67335" y="2336800"/>
            <a:ext cx="3562985" cy="37426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017010" y="2332990"/>
            <a:ext cx="4083050" cy="316674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86750" y="2339340"/>
            <a:ext cx="3801110" cy="41408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/>
        </p:nvSpPr>
        <p:spPr>
          <a:xfrm>
            <a:off x="-635" y="-635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-1270" y="-635"/>
            <a:ext cx="12192635" cy="6857365"/>
          </a:xfrm>
          <a:prstGeom prst="rect">
            <a:avLst/>
          </a:prstGeom>
          <a:gradFill flip="none" rotWithShape="1">
            <a:gsLst>
              <a:gs pos="50900">
                <a:srgbClr val="0070C0">
                  <a:alpha val="0"/>
                </a:srgbClr>
              </a:gs>
              <a:gs pos="0">
                <a:srgbClr val="0070C0">
                  <a:alpha val="0"/>
                </a:srgbClr>
              </a:gs>
              <a:gs pos="100000">
                <a:srgbClr val="0070C0">
                  <a:alpha val="40000"/>
                </a:srgbClr>
              </a:gs>
            </a:gsLst>
            <a:lin ang="2700000" scaled="0"/>
            <a:tileRect/>
          </a:gra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2" name="Text 0"/>
          <p:cNvSpPr/>
          <p:nvPr/>
        </p:nvSpPr>
        <p:spPr>
          <a:xfrm>
            <a:off x="658495" y="511810"/>
            <a:ext cx="4181475" cy="475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2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创新点与预期成果</a:t>
            </a:r>
            <a:endParaRPr lang="zh-CN" altLang="en-US" sz="32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58368" y="1042416"/>
            <a:ext cx="10835640" cy="0"/>
          </a:xfrm>
          <a:prstGeom prst="line">
            <a:avLst/>
          </a:prstGeom>
          <a:noFill/>
          <a:ln w="12700">
            <a:solidFill>
              <a:srgbClr val="C6D9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80944" y="2660904"/>
            <a:ext cx="14813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60" dirty="0"/>
          </a:p>
        </p:txBody>
      </p:sp>
      <p:sp>
        <p:nvSpPr>
          <p:cNvPr id="18" name="Text 16"/>
          <p:cNvSpPr/>
          <p:nvPr/>
        </p:nvSpPr>
        <p:spPr>
          <a:xfrm>
            <a:off x="2967355" y="3255010"/>
            <a:ext cx="1724025" cy="4940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5312664" y="2660904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60" dirty="0"/>
          </a:p>
        </p:txBody>
      </p:sp>
      <p:sp>
        <p:nvSpPr>
          <p:cNvPr id="22" name="Text 20"/>
          <p:cNvSpPr/>
          <p:nvPr/>
        </p:nvSpPr>
        <p:spPr>
          <a:xfrm>
            <a:off x="5245735" y="3261360"/>
            <a:ext cx="1761490" cy="4940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690104" y="2660904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60" dirty="0"/>
          </a:p>
        </p:txBody>
      </p:sp>
      <p:sp>
        <p:nvSpPr>
          <p:cNvPr id="26" name="Text 24"/>
          <p:cNvSpPr/>
          <p:nvPr/>
        </p:nvSpPr>
        <p:spPr>
          <a:xfrm>
            <a:off x="7727442" y="3253613"/>
            <a:ext cx="1481328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085832" y="2660904"/>
            <a:ext cx="12070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60" dirty="0"/>
          </a:p>
        </p:txBody>
      </p:sp>
      <p:sp>
        <p:nvSpPr>
          <p:cNvPr id="32" name="Text 30"/>
          <p:cNvSpPr/>
          <p:nvPr/>
        </p:nvSpPr>
        <p:spPr>
          <a:xfrm>
            <a:off x="1078992" y="5097399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69010" y="5459730"/>
            <a:ext cx="1682750" cy="7645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30" dirty="0"/>
          </a:p>
        </p:txBody>
      </p:sp>
      <p:sp>
        <p:nvSpPr>
          <p:cNvPr id="35" name="Text 33"/>
          <p:cNvSpPr/>
          <p:nvPr/>
        </p:nvSpPr>
        <p:spPr>
          <a:xfrm>
            <a:off x="3729990" y="5008880"/>
            <a:ext cx="1582420" cy="378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657600" y="5514340"/>
            <a:ext cx="1866900" cy="7099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465062" y="5098669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272530" y="5516245"/>
            <a:ext cx="1895475" cy="708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935085" y="5580380"/>
            <a:ext cx="1682750" cy="847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92824"/>
            <a:ext cx="365760" cy="164592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52" name="Text 4"/>
          <p:cNvSpPr/>
          <p:nvPr/>
        </p:nvSpPr>
        <p:spPr>
          <a:xfrm>
            <a:off x="579120" y="4257675"/>
            <a:ext cx="2018030" cy="4019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altLang="en-US" sz="28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3" name="矩形 62"/>
          <p:cNvSpPr/>
          <p:nvPr>
            <p:custDataLst>
              <p:tags r:id="rId1"/>
            </p:custDataLst>
          </p:nvPr>
        </p:nvSpPr>
        <p:spPr>
          <a:xfrm>
            <a:off x="969010" y="1887220"/>
            <a:ext cx="4753610" cy="1072515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4" name="Text 4"/>
          <p:cNvSpPr/>
          <p:nvPr/>
        </p:nvSpPr>
        <p:spPr>
          <a:xfrm>
            <a:off x="802005" y="1393825"/>
            <a:ext cx="157289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三点创新</a:t>
            </a:r>
            <a:endParaRPr lang="zh-CN" altLang="en-US" sz="20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1078865" y="2370455"/>
            <a:ext cx="405384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algn="l">
              <a:buClrTx/>
              <a:buSzTx/>
              <a:buFontTx/>
              <a:buNone/>
            </a:pPr>
            <a:r>
              <a:rPr lang="zh-CN" altLang="en-US" sz="15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把轻量化时序解耦与跨尺度特征分析结合，提升电量波动解析的颗粒度。</a:t>
            </a:r>
            <a:endParaRPr lang="zh-CN" altLang="en-US" sz="15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579120" y="1877060"/>
            <a:ext cx="44723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algn="ctr">
              <a:buClrTx/>
              <a:buSzTx/>
              <a:buFontTx/>
              <a:buNone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创新 1：多模态与跨尺度解耦</a:t>
            </a:r>
            <a:endParaRPr lang="zh-CN" altLang="en-US" sz="20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969010" y="3275330"/>
            <a:ext cx="4784725" cy="1059815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969010" y="4660265"/>
            <a:ext cx="4783455" cy="1050290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658495" y="3275330"/>
            <a:ext cx="50653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algn="ctr">
              <a:buClrTx/>
              <a:buSzTx/>
              <a:buFontTx/>
              <a:buNone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创新 2：知识图谱 + 大模型 + VAE</a:t>
            </a:r>
            <a:endParaRPr lang="zh-CN" altLang="en-US" sz="20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1078865" y="3734435"/>
            <a:ext cx="406400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15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由“单一数据驱动”转向“知识驱动 + 推理增强 + 异常检测”的融合范式。</a:t>
            </a:r>
            <a:endParaRPr lang="zh-CN" altLang="en-US" sz="15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buClrTx/>
              <a:buSzTx/>
              <a:buFontTx/>
            </a:pPr>
            <a:endParaRPr lang="zh-CN" altLang="en-US" sz="15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658495" y="4662805"/>
            <a:ext cx="47758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创新 3：面向应用的多智能体闭环</a:t>
            </a:r>
            <a:endParaRPr lang="zh-CN" altLang="en-US" sz="20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2000"/>
          </a:p>
        </p:txBody>
      </p:sp>
      <p:sp>
        <p:nvSpPr>
          <p:cNvPr id="19" name="文本框 18"/>
          <p:cNvSpPr txBox="1"/>
          <p:nvPr>
            <p:custDataLst>
              <p:tags r:id="rId9"/>
            </p:custDataLst>
          </p:nvPr>
        </p:nvSpPr>
        <p:spPr>
          <a:xfrm>
            <a:off x="1078865" y="5098415"/>
            <a:ext cx="406400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15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以 MCP 协同框架打通底层处理、异常监测、报告生成与决策问答。</a:t>
            </a:r>
            <a:endParaRPr lang="zh-CN" altLang="en-US" sz="15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buClrTx/>
              <a:buSzTx/>
              <a:buFontTx/>
            </a:pPr>
            <a:endParaRPr lang="zh-CN" altLang="en-US" sz="15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021705" y="132270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预期成果</a:t>
            </a:r>
            <a:endParaRPr lang="zh-CN" altLang="en-US" sz="20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6096000" y="1912620"/>
            <a:ext cx="5708650" cy="3667125"/>
          </a:xfrm>
          <a:prstGeom prst="roundRect">
            <a:avLst>
              <a:gd name="adj" fmla="val 2618"/>
            </a:avLst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4" name="Shape 20"/>
          <p:cNvSpPr/>
          <p:nvPr>
            <p:custDataLst>
              <p:tags r:id="rId10"/>
            </p:custDataLst>
          </p:nvPr>
        </p:nvSpPr>
        <p:spPr>
          <a:xfrm>
            <a:off x="6514211" y="2171827"/>
            <a:ext cx="1115568" cy="950976"/>
          </a:xfrm>
          <a:prstGeom prst="roundRect">
            <a:avLst>
              <a:gd name="adj" fmla="val 8654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p>
            <a:pPr marL="0" indent="0" algn="ctr">
              <a:buNone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11"/>
            </p:custDataLst>
          </p:nvPr>
        </p:nvSpPr>
        <p:spPr>
          <a:xfrm>
            <a:off x="6601460" y="2572385"/>
            <a:ext cx="12160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技术报告</a:t>
            </a:r>
            <a:endParaRPr lang="en-US" sz="1600" dirty="0"/>
          </a:p>
          <a:p>
            <a:endParaRPr lang="zh-CN" altLang="en-US" sz="1600"/>
          </a:p>
        </p:txBody>
      </p:sp>
      <p:sp>
        <p:nvSpPr>
          <p:cNvPr id="28" name="Shape 23"/>
          <p:cNvSpPr/>
          <p:nvPr>
            <p:custDataLst>
              <p:tags r:id="rId12"/>
            </p:custDataLst>
          </p:nvPr>
        </p:nvSpPr>
        <p:spPr>
          <a:xfrm>
            <a:off x="8631047" y="2171827"/>
            <a:ext cx="1115568" cy="950976"/>
          </a:xfrm>
          <a:prstGeom prst="roundRect">
            <a:avLst>
              <a:gd name="adj" fmla="val 8654"/>
            </a:avLst>
          </a:prstGeom>
          <a:solidFill>
            <a:srgbClr val="25B59A"/>
          </a:solidFill>
          <a:ln w="12700">
            <a:solidFill>
              <a:srgbClr val="25B59A"/>
            </a:solidFill>
            <a:prstDash val="solid"/>
          </a:ln>
        </p:spPr>
        <p:txBody>
          <a:bodyPr/>
          <a:p>
            <a:pPr marL="0" indent="0" algn="ctr">
              <a:buNone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endParaRPr lang="zh-CN" altLang="en-US"/>
          </a:p>
        </p:txBody>
      </p:sp>
      <p:sp>
        <p:nvSpPr>
          <p:cNvPr id="34" name="Shape 29"/>
          <p:cNvSpPr/>
          <p:nvPr>
            <p:custDataLst>
              <p:tags r:id="rId13"/>
            </p:custDataLst>
          </p:nvPr>
        </p:nvSpPr>
        <p:spPr>
          <a:xfrm>
            <a:off x="10616184" y="2171827"/>
            <a:ext cx="1115568" cy="950976"/>
          </a:xfrm>
          <a:prstGeom prst="roundRect">
            <a:avLst>
              <a:gd name="adj" fmla="val 8654"/>
            </a:avLst>
          </a:prstGeom>
          <a:solidFill>
            <a:srgbClr val="49B675"/>
          </a:solidFill>
          <a:ln w="12700">
            <a:solidFill>
              <a:srgbClr val="49B675"/>
            </a:solidFill>
            <a:prstDash val="solid"/>
          </a:ln>
        </p:spPr>
        <p:txBody>
          <a:bodyPr/>
          <a:p>
            <a:pPr marL="0" indent="0" algn="ctr">
              <a:buNone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14"/>
            </p:custDataLst>
          </p:nvPr>
        </p:nvSpPr>
        <p:spPr>
          <a:xfrm>
            <a:off x="8696325" y="2572385"/>
            <a:ext cx="11639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软件原型</a:t>
            </a:r>
            <a:endParaRPr lang="en-US" sz="1600" dirty="0"/>
          </a:p>
          <a:p>
            <a:endParaRPr lang="zh-CN" altLang="en-US" sz="1600"/>
          </a:p>
        </p:txBody>
      </p:sp>
      <p:sp>
        <p:nvSpPr>
          <p:cNvPr id="53" name="文本框 52"/>
          <p:cNvSpPr txBox="1"/>
          <p:nvPr>
            <p:custDataLst>
              <p:tags r:id="rId15"/>
            </p:custDataLst>
          </p:nvPr>
        </p:nvSpPr>
        <p:spPr>
          <a:xfrm>
            <a:off x="10560685" y="2572385"/>
            <a:ext cx="14128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软件著作权</a:t>
            </a:r>
            <a:endParaRPr lang="en-US" sz="1600" dirty="0"/>
          </a:p>
          <a:p>
            <a:endParaRPr lang="zh-CN" altLang="en-US" sz="1600"/>
          </a:p>
        </p:txBody>
      </p:sp>
      <p:sp>
        <p:nvSpPr>
          <p:cNvPr id="54" name="文本框 53"/>
          <p:cNvSpPr txBox="1"/>
          <p:nvPr/>
        </p:nvSpPr>
        <p:spPr>
          <a:xfrm>
            <a:off x="6514465" y="3386455"/>
            <a:ext cx="4937125" cy="1131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形成《基于特征解耦与知识增强技术的电力看经济大模型智能体研究》综合技术报告。</a:t>
            </a:r>
            <a:endParaRPr lang="zh-CN" altLang="en-US" sz="16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提交面向电力经济关系智能体的软件原型，覆盖图谱、特征解析、问答和报告生成模块</a:t>
            </a:r>
            <a:r>
              <a:rPr lang="zh-CN" altLang="en-US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buClrTx/>
              <a:buSzTx/>
              <a:buFontTx/>
            </a:pPr>
            <a:endParaRPr lang="zh-CN" altLang="en-US" sz="15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6464935" y="5097145"/>
            <a:ext cx="5266055" cy="391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“理论创新 + 系统原型 + 知识产权”三位一体输出</a:t>
            </a:r>
            <a:endParaRPr lang="zh-CN" altLang="en-US" sz="16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658495" y="511810"/>
            <a:ext cx="3803015" cy="475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2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实施计划与研究</a:t>
            </a:r>
            <a:r>
              <a:rPr lang="zh-CN" altLang="en-US" sz="32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基础</a:t>
            </a:r>
            <a:endParaRPr lang="zh-CN" altLang="en-US" sz="32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58368" y="1042416"/>
            <a:ext cx="10835640" cy="0"/>
          </a:xfrm>
          <a:prstGeom prst="line">
            <a:avLst/>
          </a:prstGeom>
          <a:noFill/>
          <a:ln w="12700">
            <a:solidFill>
              <a:srgbClr val="C6D9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9120" y="1279525"/>
            <a:ext cx="2018030" cy="4019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8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进度安排</a:t>
            </a:r>
            <a:endParaRPr lang="zh-CN" altLang="en-US" sz="28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92824"/>
            <a:ext cx="365760" cy="164592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52" name="Text 4"/>
          <p:cNvSpPr/>
          <p:nvPr/>
        </p:nvSpPr>
        <p:spPr>
          <a:xfrm>
            <a:off x="579120" y="4257675"/>
            <a:ext cx="2018030" cy="4019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8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可行性</a:t>
            </a:r>
            <a:r>
              <a:rPr lang="zh-CN" altLang="en-US" sz="28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基础</a:t>
            </a:r>
            <a:endParaRPr lang="zh-CN" altLang="en-US" sz="28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4" name="Shape 5"/>
          <p:cNvSpPr/>
          <p:nvPr/>
        </p:nvSpPr>
        <p:spPr>
          <a:xfrm>
            <a:off x="1143000" y="2862707"/>
            <a:ext cx="9875520" cy="0"/>
          </a:xfrm>
          <a:prstGeom prst="line">
            <a:avLst/>
          </a:prstGeom>
          <a:noFill/>
          <a:ln w="12700">
            <a:solidFill>
              <a:srgbClr val="A8CDEC"/>
            </a:solidFill>
            <a:prstDash val="solid"/>
            <a:headEnd type="none"/>
            <a:tailEnd type="triangle"/>
          </a:ln>
        </p:spPr>
      </p:sp>
      <p:sp>
        <p:nvSpPr>
          <p:cNvPr id="37" name="Shape 6"/>
          <p:cNvSpPr/>
          <p:nvPr/>
        </p:nvSpPr>
        <p:spPr>
          <a:xfrm>
            <a:off x="1682242" y="2643251"/>
            <a:ext cx="457200" cy="45720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0" name="Shape 7"/>
          <p:cNvSpPr/>
          <p:nvPr/>
        </p:nvSpPr>
        <p:spPr>
          <a:xfrm>
            <a:off x="914400" y="1930019"/>
            <a:ext cx="1993392" cy="475488"/>
          </a:xfrm>
          <a:prstGeom prst="roundRect">
            <a:avLst>
              <a:gd name="adj" fmla="val 11538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3" name="Text 8"/>
          <p:cNvSpPr/>
          <p:nvPr/>
        </p:nvSpPr>
        <p:spPr>
          <a:xfrm>
            <a:off x="914400" y="2058035"/>
            <a:ext cx="19933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2026.03—05</a:t>
            </a:r>
            <a:endParaRPr lang="en-US" sz="1320" dirty="0"/>
          </a:p>
        </p:txBody>
      </p:sp>
      <p:sp>
        <p:nvSpPr>
          <p:cNvPr id="54" name="Text 9"/>
          <p:cNvSpPr/>
          <p:nvPr/>
        </p:nvSpPr>
        <p:spPr>
          <a:xfrm>
            <a:off x="868680" y="3223895"/>
            <a:ext cx="2084705" cy="791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需求调研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algn="ctr">
              <a:buClrTx/>
              <a:buSzTx/>
              <a:buFontTx/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文献收集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algn="ctr">
              <a:buClrTx/>
              <a:buSzTx/>
              <a:buFontTx/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总体方案设计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5" name="Shape 10"/>
          <p:cNvSpPr/>
          <p:nvPr/>
        </p:nvSpPr>
        <p:spPr>
          <a:xfrm>
            <a:off x="4297172" y="2643251"/>
            <a:ext cx="457200" cy="457200"/>
          </a:xfrm>
          <a:prstGeom prst="ellipse">
            <a:avLst/>
          </a:prstGeom>
          <a:solidFill>
            <a:srgbClr val="25B59A"/>
          </a:solidFill>
          <a:ln w="12700">
            <a:solidFill>
              <a:srgbClr val="25B59A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56" name="Shape 11"/>
          <p:cNvSpPr/>
          <p:nvPr/>
        </p:nvSpPr>
        <p:spPr>
          <a:xfrm>
            <a:off x="3657600" y="1930019"/>
            <a:ext cx="1993392" cy="475488"/>
          </a:xfrm>
          <a:prstGeom prst="roundRect">
            <a:avLst>
              <a:gd name="adj" fmla="val 11538"/>
            </a:avLst>
          </a:prstGeom>
          <a:solidFill>
            <a:srgbClr val="25B59A"/>
          </a:solidFill>
          <a:ln w="12700">
            <a:solidFill>
              <a:srgbClr val="25B59A"/>
            </a:solidFill>
            <a:prstDash val="solid"/>
          </a:ln>
        </p:spPr>
      </p:sp>
      <p:sp>
        <p:nvSpPr>
          <p:cNvPr id="57" name="Text 12"/>
          <p:cNvSpPr/>
          <p:nvPr/>
        </p:nvSpPr>
        <p:spPr>
          <a:xfrm>
            <a:off x="3657600" y="2058035"/>
            <a:ext cx="19933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2026.06—09</a:t>
            </a:r>
            <a:endParaRPr lang="en-US" sz="1320" dirty="0"/>
          </a:p>
        </p:txBody>
      </p:sp>
      <p:sp>
        <p:nvSpPr>
          <p:cNvPr id="59" name="Shape 14"/>
          <p:cNvSpPr/>
          <p:nvPr/>
        </p:nvSpPr>
        <p:spPr>
          <a:xfrm>
            <a:off x="7121017" y="2643251"/>
            <a:ext cx="457200" cy="457200"/>
          </a:xfrm>
          <a:prstGeom prst="ellipse">
            <a:avLst/>
          </a:prstGeom>
          <a:solidFill>
            <a:srgbClr val="F29D38"/>
          </a:solidFill>
          <a:ln w="12700">
            <a:solidFill>
              <a:srgbClr val="F29D3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0" name="Shape 15"/>
          <p:cNvSpPr/>
          <p:nvPr/>
        </p:nvSpPr>
        <p:spPr>
          <a:xfrm>
            <a:off x="6400800" y="1930019"/>
            <a:ext cx="1993392" cy="475488"/>
          </a:xfrm>
          <a:prstGeom prst="roundRect">
            <a:avLst>
              <a:gd name="adj" fmla="val 11538"/>
            </a:avLst>
          </a:prstGeom>
          <a:solidFill>
            <a:srgbClr val="F29D38"/>
          </a:solidFill>
          <a:ln w="12700">
            <a:solidFill>
              <a:srgbClr val="F29D38"/>
            </a:solidFill>
            <a:prstDash val="solid"/>
          </a:ln>
        </p:spPr>
      </p:sp>
      <p:sp>
        <p:nvSpPr>
          <p:cNvPr id="61" name="Text 16"/>
          <p:cNvSpPr/>
          <p:nvPr/>
        </p:nvSpPr>
        <p:spPr>
          <a:xfrm>
            <a:off x="6400800" y="2058035"/>
            <a:ext cx="19933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2026.10—12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3" name="Shape 18"/>
          <p:cNvSpPr/>
          <p:nvPr/>
        </p:nvSpPr>
        <p:spPr>
          <a:xfrm>
            <a:off x="9814687" y="2643251"/>
            <a:ext cx="457200" cy="457200"/>
          </a:xfrm>
          <a:prstGeom prst="ellipse">
            <a:avLst/>
          </a:prstGeom>
          <a:solidFill>
            <a:srgbClr val="49B675"/>
          </a:solidFill>
          <a:ln w="12700">
            <a:solidFill>
              <a:srgbClr val="49B675"/>
            </a:solidFill>
            <a:prstDash val="solid"/>
          </a:ln>
        </p:spPr>
      </p:sp>
      <p:sp>
        <p:nvSpPr>
          <p:cNvPr id="64" name="Shape 19"/>
          <p:cNvSpPr/>
          <p:nvPr/>
        </p:nvSpPr>
        <p:spPr>
          <a:xfrm>
            <a:off x="9144000" y="1930019"/>
            <a:ext cx="1993392" cy="475488"/>
          </a:xfrm>
          <a:prstGeom prst="roundRect">
            <a:avLst>
              <a:gd name="adj" fmla="val 11538"/>
            </a:avLst>
          </a:prstGeom>
          <a:solidFill>
            <a:srgbClr val="49B675"/>
          </a:solidFill>
          <a:ln w="12700">
            <a:solidFill>
              <a:srgbClr val="49B675"/>
            </a:solidFill>
            <a:prstDash val="solid"/>
          </a:ln>
        </p:spPr>
      </p:sp>
      <p:sp>
        <p:nvSpPr>
          <p:cNvPr id="65" name="Text 20"/>
          <p:cNvSpPr/>
          <p:nvPr/>
        </p:nvSpPr>
        <p:spPr>
          <a:xfrm>
            <a:off x="9144000" y="2058035"/>
            <a:ext cx="19933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2027.01—05</a:t>
            </a:r>
            <a:endParaRPr lang="en-US" sz="1320" dirty="0"/>
          </a:p>
        </p:txBody>
      </p:sp>
      <p:sp>
        <p:nvSpPr>
          <p:cNvPr id="67" name="Text 9"/>
          <p:cNvSpPr/>
          <p:nvPr/>
        </p:nvSpPr>
        <p:spPr>
          <a:xfrm>
            <a:off x="3255010" y="3347720"/>
            <a:ext cx="2541905" cy="8343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电力</a:t>
            </a:r>
            <a:r>
              <a:rPr lang="en-US" altLang="zh-CN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经济关联机制</a:t>
            </a: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algn="ctr">
              <a:buClrTx/>
              <a:buSzTx/>
              <a:buFontTx/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多源波动解析模型</a:t>
            </a: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开发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algn="ctr">
              <a:buClrTx/>
              <a:buSzTx/>
              <a:buFontTx/>
              <a:buNone/>
            </a:pP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8" name="Text 9"/>
          <p:cNvSpPr/>
          <p:nvPr/>
        </p:nvSpPr>
        <p:spPr>
          <a:xfrm>
            <a:off x="6129655" y="3259455"/>
            <a:ext cx="253873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知识图谱</a:t>
            </a: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构建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algn="ctr">
              <a:buClrTx/>
              <a:buSzTx/>
              <a:buFontTx/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异常检测与问答模型</a:t>
            </a: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开发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9" name="Text 9"/>
          <p:cNvSpPr/>
          <p:nvPr/>
        </p:nvSpPr>
        <p:spPr>
          <a:xfrm>
            <a:off x="9001125" y="3367151"/>
            <a:ext cx="208483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综合技术</a:t>
            </a: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报告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algn="ctr">
              <a:buClrTx/>
              <a:buSzTx/>
              <a:buFontTx/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原型</a:t>
            </a: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完善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algn="ctr">
              <a:buClrTx/>
              <a:buSzTx/>
              <a:buFontTx/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专利与软著</a:t>
            </a: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申请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3" name="Shape 24"/>
          <p:cNvSpPr/>
          <p:nvPr/>
        </p:nvSpPr>
        <p:spPr>
          <a:xfrm>
            <a:off x="868045" y="5029073"/>
            <a:ext cx="310896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rgbClr val="C6D9EE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74" name="Shape 25"/>
          <p:cNvSpPr/>
          <p:nvPr/>
        </p:nvSpPr>
        <p:spPr>
          <a:xfrm>
            <a:off x="868045" y="5029073"/>
            <a:ext cx="109728" cy="9144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5" name="Text 26"/>
          <p:cNvSpPr/>
          <p:nvPr/>
        </p:nvSpPr>
        <p:spPr>
          <a:xfrm>
            <a:off x="1059942" y="5089652"/>
            <a:ext cx="27249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团队基础</a:t>
            </a:r>
            <a:endParaRPr lang="zh-CN" altLang="en-US" sz="20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6" name="Text 27"/>
          <p:cNvSpPr/>
          <p:nvPr/>
        </p:nvSpPr>
        <p:spPr>
          <a:xfrm>
            <a:off x="1059942" y="5507609"/>
            <a:ext cx="27249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团队具有信号处理与 AI 模型编程基础。</a:t>
            </a:r>
            <a:endParaRPr lang="en-US" sz="1440" dirty="0"/>
          </a:p>
        </p:txBody>
      </p:sp>
      <p:sp>
        <p:nvSpPr>
          <p:cNvPr id="77" name="Shape 28"/>
          <p:cNvSpPr/>
          <p:nvPr/>
        </p:nvSpPr>
        <p:spPr>
          <a:xfrm>
            <a:off x="4364609" y="5029073"/>
            <a:ext cx="310896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rgbClr val="C6D9EE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78" name="Shape 29"/>
          <p:cNvSpPr/>
          <p:nvPr/>
        </p:nvSpPr>
        <p:spPr>
          <a:xfrm>
            <a:off x="4365244" y="5029073"/>
            <a:ext cx="109728" cy="914400"/>
          </a:xfrm>
          <a:prstGeom prst="rect">
            <a:avLst/>
          </a:prstGeom>
          <a:solidFill>
            <a:srgbClr val="25B59A"/>
          </a:solidFill>
          <a:ln w="12700">
            <a:solidFill>
              <a:srgbClr val="25B59A"/>
            </a:solidFill>
            <a:prstDash val="solid"/>
          </a:ln>
        </p:spPr>
      </p:sp>
      <p:sp>
        <p:nvSpPr>
          <p:cNvPr id="79" name="Text 30"/>
          <p:cNvSpPr/>
          <p:nvPr/>
        </p:nvSpPr>
        <p:spPr>
          <a:xfrm>
            <a:off x="4556506" y="5061077"/>
            <a:ext cx="27249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条件保障</a:t>
            </a:r>
            <a:endParaRPr lang="zh-CN" altLang="en-US" sz="20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0" name="Text 31"/>
          <p:cNvSpPr/>
          <p:nvPr/>
        </p:nvSpPr>
        <p:spPr>
          <a:xfrm>
            <a:off x="4556506" y="5507609"/>
            <a:ext cx="27249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具备高性能计算机，并可利用学校实验室资源。</a:t>
            </a:r>
            <a:endParaRPr lang="en-US" sz="1440" dirty="0"/>
          </a:p>
        </p:txBody>
      </p:sp>
      <p:sp>
        <p:nvSpPr>
          <p:cNvPr id="81" name="Shape 32"/>
          <p:cNvSpPr/>
          <p:nvPr/>
        </p:nvSpPr>
        <p:spPr>
          <a:xfrm>
            <a:off x="7860538" y="5029073"/>
            <a:ext cx="310896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rgbClr val="C6D9EE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82" name="Shape 33"/>
          <p:cNvSpPr/>
          <p:nvPr/>
        </p:nvSpPr>
        <p:spPr>
          <a:xfrm>
            <a:off x="7861935" y="5027930"/>
            <a:ext cx="76200" cy="914400"/>
          </a:xfrm>
          <a:prstGeom prst="rect">
            <a:avLst/>
          </a:prstGeom>
          <a:solidFill>
            <a:srgbClr val="F29D38"/>
          </a:solidFill>
          <a:ln w="12700">
            <a:solidFill>
              <a:srgbClr val="F29D38"/>
            </a:solidFill>
            <a:prstDash val="solid"/>
          </a:ln>
        </p:spPr>
      </p:sp>
      <p:sp>
        <p:nvSpPr>
          <p:cNvPr id="83" name="Text 34"/>
          <p:cNvSpPr/>
          <p:nvPr/>
        </p:nvSpPr>
        <p:spPr>
          <a:xfrm>
            <a:off x="8053070" y="5061077"/>
            <a:ext cx="27249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数据来源</a:t>
            </a:r>
            <a:endParaRPr lang="zh-CN" altLang="en-US" sz="20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4" name="Text 35"/>
          <p:cNvSpPr/>
          <p:nvPr/>
        </p:nvSpPr>
        <p:spPr>
          <a:xfrm>
            <a:off x="8053070" y="5507355"/>
            <a:ext cx="2887980" cy="311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宏观经济与总用电量数据获取公开、透明、成本可控。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/>
        </p:nvSpPr>
        <p:spPr>
          <a:xfrm>
            <a:off x="-635" y="-635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-1270" y="-635"/>
            <a:ext cx="12192635" cy="6857365"/>
          </a:xfrm>
          <a:prstGeom prst="rect">
            <a:avLst/>
          </a:prstGeom>
          <a:gradFill flip="none" rotWithShape="1">
            <a:gsLst>
              <a:gs pos="50900">
                <a:srgbClr val="0070C0">
                  <a:alpha val="0"/>
                </a:srgbClr>
              </a:gs>
              <a:gs pos="0">
                <a:srgbClr val="0070C0">
                  <a:alpha val="0"/>
                </a:srgbClr>
              </a:gs>
              <a:gs pos="100000">
                <a:srgbClr val="0070C0">
                  <a:alpha val="40000"/>
                </a:srgbClr>
              </a:gs>
            </a:gsLst>
            <a:lin ang="2700000" scaled="0"/>
            <a:tileRect/>
          </a:gra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2" name="Text 0"/>
          <p:cNvSpPr/>
          <p:nvPr/>
        </p:nvSpPr>
        <p:spPr>
          <a:xfrm>
            <a:off x="658495" y="511810"/>
            <a:ext cx="4181475" cy="475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2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团队</a:t>
            </a:r>
            <a:r>
              <a:rPr lang="zh-CN" altLang="en-US" sz="32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成员</a:t>
            </a:r>
            <a:endParaRPr lang="zh-CN" altLang="en-US" sz="32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58368" y="1042416"/>
            <a:ext cx="10835640" cy="0"/>
          </a:xfrm>
          <a:prstGeom prst="line">
            <a:avLst/>
          </a:prstGeom>
          <a:noFill/>
          <a:ln w="12700">
            <a:solidFill>
              <a:srgbClr val="C6D9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80944" y="2660904"/>
            <a:ext cx="14813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60" dirty="0"/>
          </a:p>
        </p:txBody>
      </p:sp>
      <p:sp>
        <p:nvSpPr>
          <p:cNvPr id="18" name="Text 16"/>
          <p:cNvSpPr/>
          <p:nvPr/>
        </p:nvSpPr>
        <p:spPr>
          <a:xfrm>
            <a:off x="2967355" y="3255010"/>
            <a:ext cx="1724025" cy="4940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5312664" y="2660904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60" dirty="0"/>
          </a:p>
        </p:txBody>
      </p:sp>
      <p:sp>
        <p:nvSpPr>
          <p:cNvPr id="22" name="Text 20"/>
          <p:cNvSpPr/>
          <p:nvPr/>
        </p:nvSpPr>
        <p:spPr>
          <a:xfrm>
            <a:off x="5245735" y="3261360"/>
            <a:ext cx="1761490" cy="4940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078992" y="5097399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69010" y="5459730"/>
            <a:ext cx="1682750" cy="7645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30" dirty="0"/>
          </a:p>
        </p:txBody>
      </p:sp>
      <p:sp>
        <p:nvSpPr>
          <p:cNvPr id="35" name="Text 33"/>
          <p:cNvSpPr/>
          <p:nvPr/>
        </p:nvSpPr>
        <p:spPr>
          <a:xfrm>
            <a:off x="3729990" y="5008880"/>
            <a:ext cx="1582420" cy="378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657600" y="5514340"/>
            <a:ext cx="1866900" cy="7099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2" name="Text 4"/>
          <p:cNvSpPr/>
          <p:nvPr/>
        </p:nvSpPr>
        <p:spPr>
          <a:xfrm>
            <a:off x="579120" y="4257675"/>
            <a:ext cx="2018030" cy="4019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altLang="en-US" sz="28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ext 4"/>
          <p:cNvSpPr/>
          <p:nvPr/>
        </p:nvSpPr>
        <p:spPr>
          <a:xfrm>
            <a:off x="1386205" y="4403725"/>
            <a:ext cx="157289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李佳昱</a:t>
            </a:r>
            <a:endParaRPr lang="zh-CN" altLang="en-US" sz="20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1" descr="adc13df18486217436511c0dff4eb9f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095" y="1663065"/>
            <a:ext cx="1691005" cy="24168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1110" y="1660525"/>
            <a:ext cx="1722755" cy="24161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4985" y="1663065"/>
            <a:ext cx="1672590" cy="2417445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5220970" y="4415155"/>
            <a:ext cx="157289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薛天</a:t>
            </a: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宏</a:t>
            </a:r>
            <a:endParaRPr lang="zh-CN" altLang="en-US" sz="20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Text 4"/>
          <p:cNvSpPr/>
          <p:nvPr/>
        </p:nvSpPr>
        <p:spPr>
          <a:xfrm>
            <a:off x="9417685" y="4415155"/>
            <a:ext cx="157289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朴盛</a:t>
            </a: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珉</a:t>
            </a:r>
            <a:endParaRPr lang="zh-CN" altLang="en-US" sz="20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4"/>
            </p:custDataLst>
          </p:nvPr>
        </p:nvSpPr>
        <p:spPr>
          <a:xfrm>
            <a:off x="430530" y="4837430"/>
            <a:ext cx="3834130" cy="1971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15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5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国家电投杯</a:t>
            </a:r>
            <a:r>
              <a:rPr lang="en-US" altLang="zh-CN" sz="15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5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第一届全国</a:t>
            </a:r>
            <a:r>
              <a:rPr lang="en-US" altLang="zh-CN" sz="15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“AI+</a:t>
            </a:r>
            <a:r>
              <a:rPr lang="zh-CN" altLang="en-US" sz="15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能源</a:t>
            </a:r>
            <a:r>
              <a:rPr lang="en-US" altLang="zh-CN" sz="15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5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大学生科技创新竞赛一等奖</a:t>
            </a:r>
            <a:endParaRPr lang="zh-CN" altLang="en-US" sz="15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5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第十七届全国大学生数学竞赛二等奖</a:t>
            </a:r>
            <a:endParaRPr lang="zh-CN" altLang="en-US" sz="15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15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2025</a:t>
            </a:r>
            <a:r>
              <a:rPr lang="zh-CN" altLang="en-US" sz="15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年浙江省大学生高等数学竞赛二等奖</a:t>
            </a:r>
            <a:endParaRPr lang="zh-CN" altLang="en-US" sz="15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5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浙江大学二等奖学金</a:t>
            </a:r>
            <a:endParaRPr lang="zh-CN" altLang="en-US" sz="15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endParaRPr lang="zh-CN" altLang="en-US" sz="15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5"/>
            </p:custDataLst>
          </p:nvPr>
        </p:nvSpPr>
        <p:spPr>
          <a:xfrm>
            <a:off x="4393565" y="4837430"/>
            <a:ext cx="3834130" cy="1881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5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浙江大学二等奖学金</a:t>
            </a:r>
            <a:endParaRPr lang="zh-CN" altLang="en-US" sz="15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5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浙江省第十七届大学生物理创新竞赛三等奖</a:t>
            </a:r>
            <a:r>
              <a:rPr lang="en-US" altLang="zh-CN" sz="15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2024-2025</a:t>
            </a:r>
            <a:r>
              <a:rPr lang="zh-CN" altLang="en-US" sz="15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学年浙江大学求是学院紫云碧峰学园优秀团员，</a:t>
            </a:r>
            <a:endParaRPr lang="zh-CN" altLang="en-US" sz="15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6"/>
            </p:custDataLst>
          </p:nvPr>
        </p:nvSpPr>
        <p:spPr>
          <a:xfrm>
            <a:off x="8357235" y="4837430"/>
            <a:ext cx="3834130" cy="1881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5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负责智能体知识库（</a:t>
            </a:r>
            <a:r>
              <a:rPr lang="en-US" altLang="zh-CN" sz="15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RAG</a:t>
            </a:r>
            <a:r>
              <a:rPr lang="zh-CN" altLang="en-US" sz="15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）搭建与</a:t>
            </a:r>
            <a:r>
              <a:rPr lang="en-US" altLang="zh-CN" sz="15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Prompt</a:t>
            </a:r>
            <a:r>
              <a:rPr lang="zh-CN" altLang="en-US" sz="15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工作流（</a:t>
            </a:r>
            <a:r>
              <a:rPr lang="en-US" altLang="zh-CN" sz="15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Workflow</a:t>
            </a:r>
            <a:r>
              <a:rPr lang="zh-CN" altLang="en-US" sz="15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）设计</a:t>
            </a:r>
            <a:endParaRPr lang="en-US" altLang="zh-CN" sz="15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5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熟练掌握</a:t>
            </a:r>
            <a:r>
              <a:rPr lang="en-US" altLang="zh-CN" sz="15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Python </a:t>
            </a:r>
            <a:r>
              <a:rPr lang="zh-CN" altLang="en-US" sz="15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编程及大模型</a:t>
            </a:r>
            <a:r>
              <a:rPr lang="en-US" altLang="zh-CN" sz="15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API </a:t>
            </a:r>
            <a:r>
              <a:rPr lang="zh-CN" altLang="en-US" sz="15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接口集成开发</a:t>
            </a:r>
            <a:endParaRPr lang="zh-CN" altLang="en-US" sz="15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96.15,&quot;left&quot;:136.35,&quot;top&quot;:231.8,&quot;width&quot;:923.25}"/>
</p:tagLst>
</file>

<file path=ppt/tags/tag2.xml><?xml version="1.0" encoding="utf-8"?>
<p:tagLst xmlns:p="http://schemas.openxmlformats.org/presentationml/2006/main">
  <p:tag name="KSO_WM_DIAGRAM_VIRTUALLY_FRAME" val="{&quot;height&quot;:296.15,&quot;left&quot;:136.35,&quot;top&quot;:231.8,&quot;width&quot;:923.25}"/>
</p:tagLst>
</file>

<file path=ppt/tags/tag3.xml><?xml version="1.0" encoding="utf-8"?>
<p:tagLst xmlns:p="http://schemas.openxmlformats.org/presentationml/2006/main">
  <p:tag name="KSO_WM_DIAGRAM_VIRTUALLY_FRAME" val="{&quot;height&quot;:296.15,&quot;left&quot;:136.35,&quot;top&quot;:231.8,&quot;width&quot;:923.25}"/>
</p:tagLst>
</file>

<file path=ppt/tags/tag4.xml><?xml version="1.0" encoding="utf-8"?>
<p:tagLst xmlns:p="http://schemas.openxmlformats.org/presentationml/2006/main">
  <p:tag name="KSO_WM_DIAGRAM_VIRTUALLY_FRAME" val="{&quot;height&quot;:119.47999999999993,&quot;left&quot;:67.67999999999999,&quot;top&quot;:368.64,&quot;width&quot;:855.36}"/>
</p:tagLst>
</file>

<file path=ppt/tags/tag5.xml><?xml version="1.0" encoding="utf-8"?>
<p:tagLst xmlns:p="http://schemas.openxmlformats.org/presentationml/2006/main">
  <p:tag name="KSO_WM_DIAGRAM_VIRTUALLY_FRAME" val="{&quot;height&quot;:119.47999999999993,&quot;left&quot;:67.67999999999999,&quot;top&quot;:368.64,&quot;width&quot;:855.36}"/>
</p:tagLst>
</file>

<file path=ppt/tags/tag6.xml><?xml version="1.0" encoding="utf-8"?>
<p:tagLst xmlns:p="http://schemas.openxmlformats.org/presentationml/2006/main">
  <p:tag name="KSO_WM_DIAGRAM_VIRTUALLY_FRAME" val="{&quot;height&quot;:119.47999999999993,&quot;left&quot;:67.67999999999999,&quot;top&quot;:368.64,&quot;width&quot;:855.36}"/>
</p:tagLst>
</file>

<file path=ppt/tags/tag7.xml><?xml version="1.0" encoding="utf-8"?>
<p:tagLst xmlns:p="http://schemas.openxmlformats.org/presentationml/2006/main">
  <p:tag name="KSO_WM_DIAGRAM_VIRTUALLY_FRAME" val="{&quot;height&quot;:119.47999999999993,&quot;left&quot;:67.67999999999999,&quot;top&quot;:368.64,&quot;width&quot;:855.36}"/>
</p:tagLst>
</file>

<file path=ppt/tags/tag8.xml><?xml version="1.0" encoding="utf-8"?>
<p:tagLst xmlns:p="http://schemas.openxmlformats.org/presentationml/2006/main">
  <p:tag name="KSO_WM_DIAGRAM_VIRTUALLY_FRAME" val="{&quot;height&quot;:296.15,&quot;left&quot;:136.35,&quot;top&quot;:231.8,&quot;width&quot;:923.25}"/>
</p:tagLst>
</file>

<file path=ppt/tags/tag9.xml><?xml version="1.0" encoding="utf-8"?>
<p:tagLst xmlns:p="http://schemas.openxmlformats.org/presentationml/2006/main">
  <p:tag name="KSO_WM_DIAGRAM_VIRTUALLY_FRAME" val="{&quot;height&quot;:296.15,&quot;left&quot;:136.35,&quot;top&quot;:231.8,&quot;width&quot;:923.25}"/>
</p:tagLst>
</file>

<file path=ppt/tags/tag10.xml><?xml version="1.0" encoding="utf-8"?>
<p:tagLst xmlns:p="http://schemas.openxmlformats.org/presentationml/2006/main">
  <p:tag name="KSO_WM_DIAGRAM_VIRTUALLY_FRAME" val="{&quot;height&quot;:119.47999999999993,&quot;left&quot;:67.67999999999999,&quot;top&quot;:368.64,&quot;width&quot;:855.36}"/>
</p:tagLst>
</file>

<file path=ppt/tags/tag11.xml><?xml version="1.0" encoding="utf-8"?>
<p:tagLst xmlns:p="http://schemas.openxmlformats.org/presentationml/2006/main">
  <p:tag name="KSO_WM_DIAGRAM_VIRTUALLY_FRAME" val="{&quot;height&quot;:119.47999999999993,&quot;left&quot;:67.67999999999999,&quot;top&quot;:368.64,&quot;width&quot;:855.36}"/>
</p:tagLst>
</file>

<file path=ppt/tags/tag12.xml><?xml version="1.0" encoding="utf-8"?>
<p:tagLst xmlns:p="http://schemas.openxmlformats.org/presentationml/2006/main">
  <p:tag name="KSO_WM_DIAGRAM_VIRTUALLY_FRAME" val="{&quot;height&quot;:296.15,&quot;left&quot;:136.35,&quot;top&quot;:231.8,&quot;width&quot;:923.25}"/>
</p:tagLst>
</file>

<file path=ppt/tags/tag13.xml><?xml version="1.0" encoding="utf-8"?>
<p:tagLst xmlns:p="http://schemas.openxmlformats.org/presentationml/2006/main">
  <p:tag name="KSO_WM_DIAGRAM_VIRTUALLY_FRAME" val="{&quot;height&quot;:119.47999999999993,&quot;left&quot;:67.67999999999999,&quot;top&quot;:368.64,&quot;width&quot;:855.36}"/>
</p:tagLst>
</file>

<file path=ppt/tags/tag14.xml><?xml version="1.0" encoding="utf-8"?>
<p:tagLst xmlns:p="http://schemas.openxmlformats.org/presentationml/2006/main">
  <p:tag name="KSO_WM_DIAGRAM_VIRTUALLY_FRAME" val="{&quot;height&quot;:119.47999999999993,&quot;left&quot;:67.67999999999999,&quot;top&quot;:368.64,&quot;width&quot;:855.36}"/>
</p:tagLst>
</file>

<file path=ppt/tags/tag15.xml><?xml version="1.0" encoding="utf-8"?>
<p:tagLst xmlns:p="http://schemas.openxmlformats.org/presentationml/2006/main">
  <p:tag name="KSO_WM_DIAGRAM_VIRTUALLY_FRAME" val="{&quot;height&quot;:119.47999999999993,&quot;left&quot;:67.67999999999999,&quot;top&quot;:368.64,&quot;width&quot;:855.36}"/>
</p:tagLst>
</file>

<file path=ppt/tags/tag16.xml><?xml version="1.0" encoding="utf-8"?>
<p:tagLst xmlns:p="http://schemas.openxmlformats.org/presentationml/2006/main">
  <p:tag name="KSO_WM_DIAGRAM_VIRTUALLY_FRAME" val="{&quot;height&quot;:119.47999999999993,&quot;left&quot;:67.67999999999999,&quot;top&quot;:368.64,&quot;width&quot;:855.36}"/>
</p:tagLst>
</file>

<file path=ppt/tags/tag17.xml><?xml version="1.0" encoding="utf-8"?>
<p:tagLst xmlns:p="http://schemas.openxmlformats.org/presentationml/2006/main">
  <p:tag name="KSO_WM_DIAGRAM_VIRTUALLY_FRAME" val="{&quot;height&quot;:119.47999999999993,&quot;left&quot;:67.67999999999999,&quot;top&quot;:368.64,&quot;width&quot;:855.36}"/>
</p:tagLst>
</file>

<file path=ppt/tags/tag18.xml><?xml version="1.0" encoding="utf-8"?>
<p:tagLst xmlns:p="http://schemas.openxmlformats.org/presentationml/2006/main">
  <p:tag name="KSO_WM_DIAGRAM_VIRTUALLY_FRAME" val="{&quot;height&quot;:119.47999999999993,&quot;left&quot;:67.67999999999999,&quot;top&quot;:368.64,&quot;width&quot;:855.36}"/>
</p:tagLst>
</file>

<file path=ppt/tags/tag19.xml><?xml version="1.0" encoding="utf-8"?>
<p:tagLst xmlns:p="http://schemas.openxmlformats.org/presentationml/2006/main">
  <p:tag name="KSO_WM_DIAGRAM_VIRTUALLY_FRAME" val="{&quot;height&quot;:119.47999999999993,&quot;left&quot;:67.67999999999999,&quot;top&quot;:368.64,&quot;width&quot;:855.36}"/>
</p:tagLst>
</file>

<file path=ppt/tags/tag20.xml><?xml version="1.0" encoding="utf-8"?>
<p:tagLst xmlns:p="http://schemas.openxmlformats.org/presentationml/2006/main">
  <p:tag name="KSO_WM_DIAGRAM_VIRTUALLY_FRAME" val="{&quot;height&quot;:119.47999999999993,&quot;left&quot;:67.67999999999999,&quot;top&quot;:368.64,&quot;width&quot;:855.36}"/>
</p:tagLst>
</file>

<file path=ppt/tags/tag21.xml><?xml version="1.0" encoding="utf-8"?>
<p:tagLst xmlns:p="http://schemas.openxmlformats.org/presentationml/2006/main">
  <p:tag name="KSO_WM_DIAGRAM_VIRTUALLY_FRAME" val="{&quot;height&quot;:119.47999999999993,&quot;left&quot;:67.67999999999999,&quot;top&quot;:368.64,&quot;width&quot;:855.36}"/>
</p:tagLst>
</file>

<file path=ppt/tags/tag22.xml><?xml version="1.0" encoding="utf-8"?>
<p:tagLst xmlns:p="http://schemas.openxmlformats.org/presentationml/2006/main">
  <p:tag name="KSO_WM_DIAGRAM_VIRTUALLY_FRAME" val="{&quot;height&quot;:119.47999999999993,&quot;left&quot;:67.67999999999999,&quot;top&quot;:368.64,&quot;width&quot;:855.36}"/>
</p:tagLst>
</file>

<file path=ppt/tags/tag23.xml><?xml version="1.0" encoding="utf-8"?>
<p:tagLst xmlns:p="http://schemas.openxmlformats.org/presentationml/2006/main">
  <p:tag name="KSO_WM_DIAGRAM_VIRTUALLY_FRAME" val="{&quot;height&quot;:119.47999999999993,&quot;left&quot;:67.67999999999999,&quot;top&quot;:368.64,&quot;width&quot;:855.36}"/>
</p:tagLst>
</file>

<file path=ppt/tags/tag24.xml><?xml version="1.0" encoding="utf-8"?>
<p:tagLst xmlns:p="http://schemas.openxmlformats.org/presentationml/2006/main">
  <p:tag name="KSO_WM_DIAGRAM_VIRTUALLY_FRAME" val="{&quot;height&quot;:119.47999999999993,&quot;left&quot;:67.67999999999999,&quot;top&quot;:368.64,&quot;width&quot;:855.36}"/>
</p:tagLst>
</file>

<file path=ppt/tags/tag25.xml><?xml version="1.0" encoding="utf-8"?>
<p:tagLst xmlns:p="http://schemas.openxmlformats.org/presentationml/2006/main">
  <p:tag name="KSO_WM_DIAGRAM_VIRTUALLY_FRAME" val="{&quot;height&quot;:160.53999999999996,&quot;left&quot;:370.8,&quot;top&quot;:247.68,&quot;width&quot;:500.4}"/>
</p:tagLst>
</file>

<file path=ppt/tags/tag26.xml><?xml version="1.0" encoding="utf-8"?>
<p:tagLst xmlns:p="http://schemas.openxmlformats.org/presentationml/2006/main">
  <p:tag name="KSO_WM_DIAGRAM_VIRTUALLY_FRAME" val="{&quot;height&quot;:160.53999999999996,&quot;left&quot;:370.8,&quot;top&quot;:247.68,&quot;width&quot;:500.4}"/>
</p:tagLst>
</file>

<file path=ppt/tags/tag27.xml><?xml version="1.0" encoding="utf-8"?>
<p:tagLst xmlns:p="http://schemas.openxmlformats.org/presentationml/2006/main">
  <p:tag name="KSO_WM_DIAGRAM_VIRTUALLY_FRAME" val="{&quot;height&quot;:160.53999999999996,&quot;left&quot;:370.8,&quot;top&quot;:247.68,&quot;width&quot;:500.4}"/>
</p:tagLst>
</file>

<file path=ppt/tags/tag28.xml><?xml version="1.0" encoding="utf-8"?>
<p:tagLst xmlns:p="http://schemas.openxmlformats.org/presentationml/2006/main">
  <p:tag name="KSO_WM_DIAGRAM_VIRTUALLY_FRAME" val="{&quot;height&quot;:160.53999999999996,&quot;left&quot;:370.8,&quot;top&quot;:247.68,&quot;width&quot;:500.4}"/>
</p:tagLst>
</file>

<file path=ppt/tags/tag29.xml><?xml version="1.0" encoding="utf-8"?>
<p:tagLst xmlns:p="http://schemas.openxmlformats.org/presentationml/2006/main">
  <p:tag name="KSO_WM_DIAGRAM_VIRTUALLY_FRAME" val="{&quot;height&quot;:160.53999999999996,&quot;left&quot;:370.8,&quot;top&quot;:247.68,&quot;width&quot;:500.4}"/>
</p:tagLst>
</file>

<file path=ppt/tags/tag30.xml><?xml version="1.0" encoding="utf-8"?>
<p:tagLst xmlns:p="http://schemas.openxmlformats.org/presentationml/2006/main">
  <p:tag name="KSO_WM_DIAGRAM_VIRTUALLY_FRAME" val="{&quot;height&quot;:160.53999999999996,&quot;left&quot;:370.8,&quot;top&quot;:247.68,&quot;width&quot;:500.4}"/>
</p:tagLst>
</file>

<file path=ppt/tags/tag31.xml><?xml version="1.0" encoding="utf-8"?>
<p:tagLst xmlns:p="http://schemas.openxmlformats.org/presentationml/2006/main">
  <p:tag name="KSO_WM_DIAGRAM_VIRTUALLY_FRAME" val="{&quot;height&quot;:366.6,&quot;left&quot;:70.15,&quot;top&quot;:139.4,&quot;width&quot;:838.1}"/>
</p:tagLst>
</file>

<file path=ppt/tags/tag32.xml><?xml version="1.0" encoding="utf-8"?>
<p:tagLst xmlns:p="http://schemas.openxmlformats.org/presentationml/2006/main">
  <p:tag name="KSO_WM_DIAGRAM_VIRTUALLY_FRAME" val="{&quot;height&quot;:366.6,&quot;left&quot;:70.15,&quot;top&quot;:139.4,&quot;width&quot;:838.1}"/>
</p:tagLst>
</file>

<file path=ppt/tags/tag33.xml><?xml version="1.0" encoding="utf-8"?>
<p:tagLst xmlns:p="http://schemas.openxmlformats.org/presentationml/2006/main">
  <p:tag name="KSO_WM_DIAGRAM_VIRTUALLY_FRAME" val="{&quot;height&quot;:366.6,&quot;left&quot;:70.15,&quot;top&quot;:139.4,&quot;width&quot;:838.1}"/>
</p:tagLst>
</file>

<file path=ppt/tags/tag34.xml><?xml version="1.0" encoding="utf-8"?>
<p:tagLst xmlns:p="http://schemas.openxmlformats.org/presentationml/2006/main">
  <p:tag name="KSO_WM_DIAGRAM_VIRTUALLY_FRAME" val="{&quot;height&quot;:366.6,&quot;left&quot;:70.15,&quot;top&quot;:139.4,&quot;width&quot;:838.1}"/>
</p:tagLst>
</file>

<file path=ppt/tags/tag35.xml><?xml version="1.0" encoding="utf-8"?>
<p:tagLst xmlns:p="http://schemas.openxmlformats.org/presentationml/2006/main">
  <p:tag name="KSO_WM_DIAGRAM_VIRTUALLY_FRAME" val="{&quot;height&quot;:366.6,&quot;left&quot;:70.15,&quot;top&quot;:139.4,&quot;width&quot;:838.1}"/>
</p:tagLst>
</file>

<file path=ppt/tags/tag36.xml><?xml version="1.0" encoding="utf-8"?>
<p:tagLst xmlns:p="http://schemas.openxmlformats.org/presentationml/2006/main">
  <p:tag name="KSO_WM_DIAGRAM_VIRTUALLY_FRAME" val="{&quot;height&quot;:366.6,&quot;left&quot;:70.15,&quot;top&quot;:139.4,&quot;width&quot;:838.1}"/>
</p:tagLst>
</file>

<file path=ppt/tags/tag37.xml><?xml version="1.0" encoding="utf-8"?>
<p:tagLst xmlns:p="http://schemas.openxmlformats.org/presentationml/2006/main">
  <p:tag name="KSO_WM_DIAGRAM_VIRTUALLY_FRAME" val="{&quot;height&quot;:366.6,&quot;left&quot;:70.15,&quot;top&quot;:139.4,&quot;width&quot;:838.1}"/>
</p:tagLst>
</file>

<file path=ppt/tags/tag38.xml><?xml version="1.0" encoding="utf-8"?>
<p:tagLst xmlns:p="http://schemas.openxmlformats.org/presentationml/2006/main">
  <p:tag name="KSO_WM_DIAGRAM_VIRTUALLY_FRAME" val="{&quot;height&quot;:366.6,&quot;left&quot;:70.15,&quot;top&quot;:139.4,&quot;width&quot;:838.1}"/>
</p:tagLst>
</file>

<file path=ppt/tags/tag39.xml><?xml version="1.0" encoding="utf-8"?>
<p:tagLst xmlns:p="http://schemas.openxmlformats.org/presentationml/2006/main">
  <p:tag name="KSO_WM_DIAGRAM_VIRTUALLY_FRAME" val="{&quot;height&quot;:366.6,&quot;left&quot;:70.15,&quot;top&quot;:139.4,&quot;width&quot;:838.1}"/>
</p:tagLst>
</file>

<file path=ppt/tags/tag40.xml><?xml version="1.0" encoding="utf-8"?>
<p:tagLst xmlns:p="http://schemas.openxmlformats.org/presentationml/2006/main">
  <p:tag name="KSO_WM_DIAGRAM_VIRTUALLY_FRAME" val="{&quot;height&quot;:366.6,&quot;left&quot;:70.15,&quot;top&quot;:139.4,&quot;width&quot;:838.1}"/>
</p:tagLst>
</file>

<file path=ppt/tags/tag41.xml><?xml version="1.0" encoding="utf-8"?>
<p:tagLst xmlns:p="http://schemas.openxmlformats.org/presentationml/2006/main">
  <p:tag name="KSO_WM_DIAGRAM_VIRTUALLY_FRAME" val="{&quot;height&quot;:366.6,&quot;left&quot;:70.15,&quot;top&quot;:139.4,&quot;width&quot;:838.1}"/>
</p:tagLst>
</file>

<file path=ppt/tags/tag42.xml><?xml version="1.0" encoding="utf-8"?>
<p:tagLst xmlns:p="http://schemas.openxmlformats.org/presentationml/2006/main">
  <p:tag name="KSO_WM_DIAGRAM_VIRTUALLY_FRAME" val="{&quot;height&quot;:366.6,&quot;left&quot;:70.15,&quot;top&quot;:139.4,&quot;width&quot;:838.1}"/>
</p:tagLst>
</file>

<file path=ppt/tags/tag43.xml><?xml version="1.0" encoding="utf-8"?>
<p:tagLst xmlns:p="http://schemas.openxmlformats.org/presentationml/2006/main">
  <p:tag name="KSO_WM_DIAGRAM_VIRTUALLY_FRAME" val="{&quot;height&quot;:354.01669291338584,&quot;left&quot;:-67.94724409448818,&quot;top&quot;:74.90283464566929,&quot;width&quot;:1124.9794488188977}"/>
</p:tagLst>
</file>

<file path=ppt/tags/tag44.xml><?xml version="1.0" encoding="utf-8"?>
<p:tagLst xmlns:p="http://schemas.openxmlformats.org/presentationml/2006/main">
  <p:tag name="KSO_WM_DIAGRAM_VIRTUALLY_FRAME" val="{&quot;height&quot;:354.01669291338584,&quot;left&quot;:-67.94724409448818,&quot;top&quot;:74.90283464566929,&quot;width&quot;:1124.9794488188977}"/>
</p:tagLst>
</file>

<file path=ppt/tags/tag45.xml><?xml version="1.0" encoding="utf-8"?>
<p:tagLst xmlns:p="http://schemas.openxmlformats.org/presentationml/2006/main">
  <p:tag name="KSO_WM_DIAGRAM_VIRTUALLY_FRAME" val="{&quot;height&quot;:354.01669291338584,&quot;left&quot;:-67.94724409448818,&quot;top&quot;:74.90283464566929,&quot;width&quot;:1124.9794488188977}"/>
</p:tagLst>
</file>

<file path=ppt/tags/tag46.xml><?xml version="1.0" encoding="utf-8"?>
<p:tagLst xmlns:p="http://schemas.openxmlformats.org/presentationml/2006/main">
  <p:tag name="KSO_WM_DIAGRAM_VIRTUALLY_FRAME" val="{&quot;height&quot;:354.01669291338584,&quot;left&quot;:-67.94724409448818,&quot;top&quot;:74.90283464566929,&quot;width&quot;:1124.9794488188977}"/>
</p:tagLst>
</file>

<file path=ppt/tags/tag47.xml><?xml version="1.0" encoding="utf-8"?>
<p:tagLst xmlns:p="http://schemas.openxmlformats.org/presentationml/2006/main">
  <p:tag name="KSO_WM_DIAGRAM_VIRTUALLY_FRAME" val="{&quot;height&quot;:354.01669291338584,&quot;left&quot;:-67.94724409448818,&quot;top&quot;:74.90283464566929,&quot;width&quot;:1124.9794488188977}"/>
</p:tagLst>
</file>

<file path=ppt/tags/tag48.xml><?xml version="1.0" encoding="utf-8"?>
<p:tagLst xmlns:p="http://schemas.openxmlformats.org/presentationml/2006/main">
  <p:tag name="KSO_WM_DIAGRAM_VIRTUALLY_FRAME" val="{&quot;height&quot;:354.01669291338584,&quot;left&quot;:-67.94724409448818,&quot;top&quot;:74.90283464566929,&quot;width&quot;:1124.9794488188977}"/>
</p:tagLst>
</file>

<file path=ppt/tags/tag49.xml><?xml version="1.0" encoding="utf-8"?>
<p:tagLst xmlns:p="http://schemas.openxmlformats.org/presentationml/2006/main">
  <p:tag name="KSO_WM_DIAGRAM_VIRTUALLY_FRAME" val="{&quot;height&quot;:354.01669291338584,&quot;left&quot;:-67.94724409448818,&quot;top&quot;:74.90283464566929,&quot;width&quot;:1124.9794488188977}"/>
</p:tagLst>
</file>

<file path=ppt/tags/tag50.xml><?xml version="1.0" encoding="utf-8"?>
<p:tagLst xmlns:p="http://schemas.openxmlformats.org/presentationml/2006/main">
  <p:tag name="KSO_WM_DIAGRAM_VIRTUALLY_FRAME" val="{&quot;height&quot;:354.01669291338584,&quot;left&quot;:-67.94724409448818,&quot;top&quot;:74.90283464566929,&quot;width&quot;:1124.9794488188977}"/>
</p:tagLst>
</file>

<file path=ppt/tags/tag51.xml><?xml version="1.0" encoding="utf-8"?>
<p:tagLst xmlns:p="http://schemas.openxmlformats.org/presentationml/2006/main">
  <p:tag name="KSO_WM_DIAGRAM_VIRTUALLY_FRAME" val="{&quot;height&quot;:354.01669291338584,&quot;left&quot;:-67.94724409448818,&quot;top&quot;:74.90283464566929,&quot;width&quot;:1124.9794488188977}"/>
</p:tagLst>
</file>

<file path=ppt/tags/tag52.xml><?xml version="1.0" encoding="utf-8"?>
<p:tagLst xmlns:p="http://schemas.openxmlformats.org/presentationml/2006/main">
  <p:tag name="KSO_WM_DIAGRAM_VIRTUALLY_FRAME" val="{&quot;height&quot;:354.01669291338584,&quot;left&quot;:-67.94724409448818,&quot;top&quot;:74.90283464566929,&quot;width&quot;:1124.9794488188977}"/>
</p:tagLst>
</file>

<file path=ppt/tags/tag53.xml><?xml version="1.0" encoding="utf-8"?>
<p:tagLst xmlns:p="http://schemas.openxmlformats.org/presentationml/2006/main">
  <p:tag name="KSO_WM_DIAGRAM_VIRTUALLY_FRAME" val="{&quot;height&quot;:354.01669291338584,&quot;left&quot;:-67.94724409448818,&quot;top&quot;:74.90283464566929,&quot;width&quot;:1124.9794488188977}"/>
</p:tagLst>
</file>

<file path=ppt/tags/tag54.xml><?xml version="1.0" encoding="utf-8"?>
<p:tagLst xmlns:p="http://schemas.openxmlformats.org/presentationml/2006/main">
  <p:tag name="KSO_WM_DIAGRAM_VIRTUALLY_FRAME" val="{&quot;height&quot;:354.01669291338584,&quot;left&quot;:-67.94724409448818,&quot;top&quot;:74.90283464566929,&quot;width&quot;:1124.9794488188977}"/>
</p:tagLst>
</file>

<file path=ppt/tags/tag55.xml><?xml version="1.0" encoding="utf-8"?>
<p:tagLst xmlns:p="http://schemas.openxmlformats.org/presentationml/2006/main">
  <p:tag name="KSO_WM_DIAGRAM_VIRTUALLY_FRAME" val="{&quot;height&quot;:354.01669291338584,&quot;left&quot;:-67.94724409448818,&quot;top&quot;:74.90283464566929,&quot;width&quot;:1124.9794488188977}"/>
</p:tagLst>
</file>

<file path=ppt/tags/tag56.xml><?xml version="1.0" encoding="utf-8"?>
<p:tagLst xmlns:p="http://schemas.openxmlformats.org/presentationml/2006/main">
  <p:tag name="KSO_WM_DIAGRAM_VIRTUALLY_FRAME" val="{&quot;height&quot;:354.01669291338584,&quot;left&quot;:-67.94724409448818,&quot;top&quot;:74.90283464566929,&quot;width&quot;:1124.9794488188977}"/>
</p:tagLst>
</file>

<file path=ppt/tags/tag57.xml><?xml version="1.0" encoding="utf-8"?>
<p:tagLst xmlns:p="http://schemas.openxmlformats.org/presentationml/2006/main">
  <p:tag name="KSO_WM_DIAGRAM_VIRTUALLY_FRAME" val="{&quot;height&quot;:354.01669291338584,&quot;left&quot;:-67.94724409448818,&quot;top&quot;:74.90283464566929,&quot;width&quot;:1124.9794488188977}"/>
</p:tagLst>
</file>

<file path=ppt/tags/tag58.xml><?xml version="1.0" encoding="utf-8"?>
<p:tagLst xmlns:p="http://schemas.openxmlformats.org/presentationml/2006/main">
  <p:tag name="KSO_WM_DIAGRAM_VIRTUALLY_FRAME" val="{&quot;height&quot;:354.01669291338584,&quot;left&quot;:-67.94724409448818,&quot;top&quot;:74.90283464566929,&quot;width&quot;:1124.9794488188977}"/>
</p:tagLst>
</file>

<file path=ppt/tags/tag59.xml><?xml version="1.0" encoding="utf-8"?>
<p:tagLst xmlns:p="http://schemas.openxmlformats.org/presentationml/2006/main">
  <p:tag name="KSO_WM_DIAGRAM_VIRTUALLY_FRAME" val="{&quot;height&quot;:354.01669291338584,&quot;left&quot;:-67.94724409448818,&quot;top&quot;:74.90283464566929,&quot;width&quot;:1124.9794488188977}"/>
</p:tagLst>
</file>

<file path=ppt/tags/tag60.xml><?xml version="1.0" encoding="utf-8"?>
<p:tagLst xmlns:p="http://schemas.openxmlformats.org/presentationml/2006/main">
  <p:tag name="KSO_WM_DIAGRAM_VIRTUALLY_FRAME" val="{&quot;height&quot;:354.01669291338584,&quot;left&quot;:-67.94724409448818,&quot;top&quot;:74.90283464566929,&quot;width&quot;:1124.9794488188977}"/>
</p:tagLst>
</file>

<file path=ppt/tags/tag61.xml><?xml version="1.0" encoding="utf-8"?>
<p:tagLst xmlns:p="http://schemas.openxmlformats.org/presentationml/2006/main">
  <p:tag name="KSO_WM_DIAGRAM_VIRTUALLY_FRAME" val="{&quot;height&quot;:354.01669291338584,&quot;left&quot;:-67.94724409448818,&quot;top&quot;:74.90283464566929,&quot;width&quot;:1124.9794488188977}"/>
</p:tagLst>
</file>

<file path=ppt/tags/tag62.xml><?xml version="1.0" encoding="utf-8"?>
<p:tagLst xmlns:p="http://schemas.openxmlformats.org/presentationml/2006/main">
  <p:tag name="KSO_WM_DIAGRAM_VIRTUALLY_FRAME" val="{&quot;height&quot;:316.55,&quot;left&quot;:45.6,&quot;top&quot;:146.6,&quot;width&quot;:428.7}"/>
</p:tagLst>
</file>

<file path=ppt/tags/tag63.xml><?xml version="1.0" encoding="utf-8"?>
<p:tagLst xmlns:p="http://schemas.openxmlformats.org/presentationml/2006/main">
  <p:tag name="KSO_WM_DIAGRAM_VIRTUALLY_FRAME" val="{&quot;height&quot;:316.55,&quot;left&quot;:45.6,&quot;top&quot;:146.6,&quot;width&quot;:428.7}"/>
</p:tagLst>
</file>

<file path=ppt/tags/tag64.xml><?xml version="1.0" encoding="utf-8"?>
<p:tagLst xmlns:p="http://schemas.openxmlformats.org/presentationml/2006/main">
  <p:tag name="KSO_WM_DIAGRAM_VIRTUALLY_FRAME" val="{&quot;height&quot;:316.55,&quot;left&quot;:45.6,&quot;top&quot;:146.6,&quot;width&quot;:428.7}"/>
</p:tagLst>
</file>

<file path=ppt/tags/tag65.xml><?xml version="1.0" encoding="utf-8"?>
<p:tagLst xmlns:p="http://schemas.openxmlformats.org/presentationml/2006/main">
  <p:tag name="KSO_WM_DIAGRAM_VIRTUALLY_FRAME" val="{&quot;height&quot;:316.55,&quot;left&quot;:45.6,&quot;top&quot;:146.6,&quot;width&quot;:428.7}"/>
</p:tagLst>
</file>

<file path=ppt/tags/tag66.xml><?xml version="1.0" encoding="utf-8"?>
<p:tagLst xmlns:p="http://schemas.openxmlformats.org/presentationml/2006/main">
  <p:tag name="KSO_WM_DIAGRAM_VIRTUALLY_FRAME" val="{&quot;height&quot;:316.55,&quot;left&quot;:45.6,&quot;top&quot;:146.6,&quot;width&quot;:428.7}"/>
</p:tagLst>
</file>

<file path=ppt/tags/tag67.xml><?xml version="1.0" encoding="utf-8"?>
<p:tagLst xmlns:p="http://schemas.openxmlformats.org/presentationml/2006/main">
  <p:tag name="KSO_WM_DIAGRAM_VIRTUALLY_FRAME" val="{&quot;height&quot;:316.55,&quot;left&quot;:45.6,&quot;top&quot;:146.6,&quot;width&quot;:428.7}"/>
</p:tagLst>
</file>

<file path=ppt/tags/tag68.xml><?xml version="1.0" encoding="utf-8"?>
<p:tagLst xmlns:p="http://schemas.openxmlformats.org/presentationml/2006/main">
  <p:tag name="KSO_WM_DIAGRAM_VIRTUALLY_FRAME" val="{&quot;height&quot;:316.55,&quot;left&quot;:45.6,&quot;top&quot;:146.6,&quot;width&quot;:428.7}"/>
</p:tagLst>
</file>

<file path=ppt/tags/tag69.xml><?xml version="1.0" encoding="utf-8"?>
<p:tagLst xmlns:p="http://schemas.openxmlformats.org/presentationml/2006/main">
  <p:tag name="KSO_WM_DIAGRAM_VIRTUALLY_FRAME" val="{&quot;height&quot;:316.55,&quot;left&quot;:45.6,&quot;top&quot;:146.6,&quot;width&quot;:428.7}"/>
</p:tagLst>
</file>

<file path=ppt/tags/tag70.xml><?xml version="1.0" encoding="utf-8"?>
<p:tagLst xmlns:p="http://schemas.openxmlformats.org/presentationml/2006/main">
  <p:tag name="KSO_WM_DIAGRAM_VIRTUALLY_FRAME" val="{&quot;height&quot;:316.55,&quot;left&quot;:45.6,&quot;top&quot;:146.6,&quot;width&quot;:428.7}"/>
</p:tagLst>
</file>

<file path=ppt/tags/tag71.xml><?xml version="1.0" encoding="utf-8"?>
<p:tagLst xmlns:p="http://schemas.openxmlformats.org/presentationml/2006/main">
  <p:tag name="KSO_WM_DIAGRAM_VIRTUALLY_FRAME" val="{&quot;height&quot;:77.49000000000001,&quot;left&quot;:512.9300000000001,&quot;top&quot;:171.01,&quot;width&quot;:429.87}"/>
</p:tagLst>
</file>

<file path=ppt/tags/tag72.xml><?xml version="1.0" encoding="utf-8"?>
<p:tagLst xmlns:p="http://schemas.openxmlformats.org/presentationml/2006/main">
  <p:tag name="KSO_WM_DIAGRAM_VIRTUALLY_FRAME" val="{&quot;height&quot;:77.49000000000001,&quot;left&quot;:512.9300000000001,&quot;top&quot;:171.01,&quot;width&quot;:429.87}"/>
</p:tagLst>
</file>

<file path=ppt/tags/tag73.xml><?xml version="1.0" encoding="utf-8"?>
<p:tagLst xmlns:p="http://schemas.openxmlformats.org/presentationml/2006/main">
  <p:tag name="KSO_WM_DIAGRAM_VIRTUALLY_FRAME" val="{&quot;height&quot;:77.49000000000001,&quot;left&quot;:512.9300000000001,&quot;top&quot;:171.01,&quot;width&quot;:429.87}"/>
</p:tagLst>
</file>

<file path=ppt/tags/tag74.xml><?xml version="1.0" encoding="utf-8"?>
<p:tagLst xmlns:p="http://schemas.openxmlformats.org/presentationml/2006/main">
  <p:tag name="KSO_WM_DIAGRAM_VIRTUALLY_FRAME" val="{&quot;height&quot;:77.49000000000001,&quot;left&quot;:512.9300000000001,&quot;top&quot;:171.01,&quot;width&quot;:429.87}"/>
</p:tagLst>
</file>

<file path=ppt/tags/tag75.xml><?xml version="1.0" encoding="utf-8"?>
<p:tagLst xmlns:p="http://schemas.openxmlformats.org/presentationml/2006/main">
  <p:tag name="KSO_WM_DIAGRAM_VIRTUALLY_FRAME" val="{&quot;height&quot;:77.49000000000001,&quot;left&quot;:512.9300000000001,&quot;top&quot;:171.01,&quot;width&quot;:429.87}"/>
</p:tagLst>
</file>

<file path=ppt/tags/tag76.xml><?xml version="1.0" encoding="utf-8"?>
<p:tagLst xmlns:p="http://schemas.openxmlformats.org/presentationml/2006/main">
  <p:tag name="KSO_WM_DIAGRAM_VIRTUALLY_FRAME" val="{&quot;height&quot;:77.49000000000001,&quot;left&quot;:512.9300000000001,&quot;top&quot;:171.01,&quot;width&quot;:429.87}"/>
</p:tagLst>
</file>

<file path=ppt/tags/tag77.xml><?xml version="1.0" encoding="utf-8"?>
<p:tagLst xmlns:p="http://schemas.openxmlformats.org/presentationml/2006/main">
  <p:tag name="KSO_WM_DIAGRAM_VIRTUALLY_FRAME" val="{&quot;height&quot;:316.55,&quot;left&quot;:45.6,&quot;top&quot;:146.6,&quot;width&quot;:428.7}"/>
</p:tagLst>
</file>

<file path=ppt/tags/tag78.xml><?xml version="1.0" encoding="utf-8"?>
<p:tagLst xmlns:p="http://schemas.openxmlformats.org/presentationml/2006/main">
  <p:tag name="KSO_WM_DIAGRAM_VIRTUALLY_FRAME" val="{&quot;height&quot;:316.55,&quot;left&quot;:45.6,&quot;top&quot;:146.6,&quot;width&quot;:428.7}"/>
</p:tagLst>
</file>

<file path=ppt/tags/tag79.xml><?xml version="1.0" encoding="utf-8"?>
<p:tagLst xmlns:p="http://schemas.openxmlformats.org/presentationml/2006/main">
  <p:tag name="KSO_WM_DIAGRAM_VIRTUALLY_FRAME" val="{&quot;height&quot;:316.55,&quot;left&quot;:45.6,&quot;top&quot;:146.6,&quot;width&quot;:428.7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1609</Words>
  <Application>WPS 演示</Application>
  <PresentationFormat>宽屏</PresentationFormat>
  <Paragraphs>278</Paragraphs>
  <Slides>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宋体</vt:lpstr>
      <vt:lpstr>Wingdings</vt:lpstr>
      <vt:lpstr>Noto Sans CJK SC</vt:lpstr>
      <vt:lpstr>AMGDT</vt:lpstr>
      <vt:lpstr>思源黑体</vt:lpstr>
      <vt:lpstr>演示创黑FLY Heavy</vt:lpstr>
      <vt:lpstr>微软雅黑</vt:lpstr>
      <vt:lpstr>黑体</vt:lpstr>
      <vt:lpstr>Wingdings</vt:lpstr>
      <vt:lpstr>等线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基于特征解耦与知识增强的“电力看经济”智能体构建方法</dc:title>
  <dc:creator>OpenAI</dc:creator>
  <dc:subject>SRTP 项目答辩</dc:subject>
  <cp:lastModifiedBy>李佳昱</cp:lastModifiedBy>
  <cp:revision>16</cp:revision>
  <dcterms:created xsi:type="dcterms:W3CDTF">2026-04-11T05:39:00Z</dcterms:created>
  <dcterms:modified xsi:type="dcterms:W3CDTF">2026-04-22T02:32:32Z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3CF8DDB6E7E647649CEA63C7C6436ED3_12</vt:lpwstr>
  </property>
  <property fmtid="{D5CDD505-2E9C-101B-9397-08002B2CF9AE}" pid="3" name="KSOProductBuildVer">
    <vt:lpwstr>2052-12.1.0.23542</vt:lpwstr>
  </property>
</Properties>
</file>