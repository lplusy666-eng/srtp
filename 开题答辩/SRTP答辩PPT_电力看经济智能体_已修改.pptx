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6" r:id="rId13"/>
    <p:sldId id="258" r:id="rId6"/>
    <p:sldId id="259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各位老师好，我汇报的题目是《基于特征解耦与知识增强的“电力看经济”智能体构建方法》。本项目聚焦一个核心问题：如何把复杂的电量变化转化为对经济态势的可解释、可交互、可落地判断。我们希望利用多源数据融合、知识图谱和大模型技术，构建一个能够监测异常、生成报告并支持问答的智能体原型。接下来我从背景意义、研究目标、技术路线、创新点和实施计划五个方面进行汇报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本项目的提出主要有三方面背景。第一，在双碳战略和能源转型背景下，电力系统越来越需要智能化、精细化管理。第二，电力消费和宏观经济之间存在紧密耦合关系，用电变化本身就是观察经济运行的重要窗口。第三，传统方法往往只做单一预测，难以同时处理气象、节假日和经济因素的叠加扰动。因此，我们的目标不是简单预测电量，而是把用电数据真正转化为经济态势感知能力，形成从监测、诊断到报告生成和问答交互的完整闭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围绕总目标，项目设置了四个层层递进的研究目标：首先建立电力和经济的动态演化理论框架；其次构建多源融合的电量波动解析模型；第三实现重点行业的异动监测与智能诊断；最后形成自动报告生成和智能问答能力。对应地，我们重点解决四个关键问题：一是复杂关系如何量化，二是多源数据如何融合并解耦，三是知识图谱、大模型和异常检测如何深度结合，四是多智能体如何协同输出可信结果。这四个问题也是后续技术路线设计的核心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B74"/>
          </a:solidFill>
          <a:ln w="12700">
            <a:solidFill>
              <a:srgbClr val="123B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B74"/>
          </a:solidFill>
          <a:ln w="12700">
            <a:solidFill>
              <a:srgbClr val="123B7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12191695" cy="109728"/>
          </a:xfrm>
          <a:prstGeom prst="rect">
            <a:avLst/>
          </a:prstGeom>
          <a:solidFill>
            <a:srgbClr val="22A6E7"/>
          </a:solidFill>
          <a:ln w="12700">
            <a:solidFill>
              <a:srgbClr val="22A6E7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image" Target="../media/image4.png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1.png"/><Relationship Id="rId12" Type="http://schemas.openxmlformats.org/officeDocument/2006/relationships/image" Target="../media/image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tags" Target="../tags/tag12.xml"/><Relationship Id="rId7" Type="http://schemas.openxmlformats.org/officeDocument/2006/relationships/tags" Target="../tags/tag13.xml"/><Relationship Id="rId8" Type="http://schemas.openxmlformats.org/officeDocument/2006/relationships/tags" Target="../tags/tag14.xml"/><Relationship Id="rId9" Type="http://schemas.openxmlformats.org/officeDocument/2006/relationships/tags" Target="../tags/tag15.xml"/><Relationship Id="rId10" Type="http://schemas.openxmlformats.org/officeDocument/2006/relationships/tags" Target="../tags/tag16.xml"/><Relationship Id="rId11" Type="http://schemas.openxmlformats.org/officeDocument/2006/relationships/tags" Target="../tags/tag17.xml"/><Relationship Id="rId12" Type="http://schemas.openxmlformats.org/officeDocument/2006/relationships/tags" Target="../tags/tag18.xml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tags" Target="../tags/tag35.xml"/><Relationship Id="rId9" Type="http://schemas.openxmlformats.org/officeDocument/2006/relationships/tags" Target="../tags/tag36.xml"/><Relationship Id="rId10" Type="http://schemas.openxmlformats.org/officeDocument/2006/relationships/tags" Target="../tags/tag37.xml"/><Relationship Id="rId11" Type="http://schemas.openxmlformats.org/officeDocument/2006/relationships/tags" Target="../tags/tag38.xml"/><Relationship Id="rId12" Type="http://schemas.openxmlformats.org/officeDocument/2006/relationships/tags" Target="../tags/tag39.xml"/><Relationship Id="rId13" Type="http://schemas.openxmlformats.org/officeDocument/2006/relationships/tags" Target="../tags/tag40.xml"/><Relationship Id="rId14" Type="http://schemas.openxmlformats.org/officeDocument/2006/relationships/tags" Target="../tags/tag41.xml"/><Relationship Id="rId15" Type="http://schemas.openxmlformats.org/officeDocument/2006/relationships/tags" Target="../tags/tag42.xml"/><Relationship Id="rId16" Type="http://schemas.openxmlformats.org/officeDocument/2006/relationships/tags" Target="../tags/tag43.xml"/><Relationship Id="rId17" Type="http://schemas.openxmlformats.org/officeDocument/2006/relationships/tags" Target="../tags/tag44.xm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62940" y="0"/>
            <a:ext cx="12854940" cy="77184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364490" y="-491490"/>
            <a:ext cx="13413105" cy="816673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pic>
        <p:nvPicPr>
          <p:cNvPr id="44" name="图形 43" descr="箭头: 直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228264" y="8265697"/>
            <a:ext cx="914400" cy="9144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812405" y="8522970"/>
            <a:ext cx="1790065" cy="476885"/>
          </a:xfrm>
          <a:prstGeom prst="roundRect">
            <a:avLst>
              <a:gd name="adj" fmla="val 21053"/>
            </a:avLst>
          </a:prstGeom>
          <a:solidFill>
            <a:schemeClr val="bg1">
              <a:alpha val="2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algn="ctr">
              <a:buClrTx/>
              <a:buSzTx/>
              <a:buFontTx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演示创黑FLY Heavy" panose="02000600000000000000" pitchFamily="2" charset="-122"/>
              </a:rPr>
              <a:t>一体化智能体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演示创黑FLY Heavy" panose="02000600000000000000" pitchFamily="2" charset="-122"/>
            </a:endParaRPr>
          </a:p>
        </p:txBody>
      </p:sp>
      <p:pic>
        <p:nvPicPr>
          <p:cNvPr id="3" name="图片 2" descr="电力传输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5010" y="-322580"/>
            <a:ext cx="12894310" cy="4063365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444500" y="0"/>
            <a:ext cx="5783580" cy="2140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zh-CN" altLang="en-US" sz="4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特征解耦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zh-CN" altLang="en-US" sz="4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知识增强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“电力看经济”智能体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构建方法</a:t>
            </a:r>
            <a:endParaRPr lang="en-US" sz="2800" b="1" dirty="0">
              <a:solidFill>
                <a:srgbClr val="123B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80135" y="6330950"/>
            <a:ext cx="1726565" cy="505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能源转型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16805" y="6334760"/>
            <a:ext cx="1824990" cy="508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多源融合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51595" y="6338570"/>
            <a:ext cx="1887220" cy="504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智能决策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160" y="3846672"/>
            <a:ext cx="3742526" cy="1853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汇报人：李佳昱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学院：电气工程学院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指导教师：李知艺 研究员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项目周期：2026.03—2027.05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46180" y="683666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3" name="Shape 12"/>
          <p:cNvSpPr/>
          <p:nvPr/>
        </p:nvSpPr>
        <p:spPr>
          <a:xfrm>
            <a:off x="4345305" y="4415155"/>
            <a:ext cx="3799840" cy="994410"/>
          </a:xfrm>
          <a:prstGeom prst="roundRect">
            <a:avLst>
              <a:gd name="adj" fmla="val 21053"/>
            </a:avLst>
          </a:prstGeom>
          <a:solidFill>
            <a:schemeClr val="bg1">
              <a:alpha val="2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面向复杂电量变化的经济态势感知智能体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615045" y="3921760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异常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监测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61400" y="3978910"/>
            <a:ext cx="41910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FFC000"/>
                </a:solidFill>
              </a:rPr>
              <a:t>⚡</a:t>
            </a:r>
            <a:endParaRPr lang="zh-CN" altLang="en-US" sz="1600">
              <a:solidFill>
                <a:srgbClr val="FFC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615045" y="4457065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智能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诊断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61400" y="4512945"/>
            <a:ext cx="49847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92D050"/>
                </a:solidFill>
              </a:rPr>
              <a:t>📊</a:t>
            </a:r>
            <a:endParaRPr lang="zh-CN" altLang="en-US" sz="1600">
              <a:solidFill>
                <a:srgbClr val="92D05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15045" y="4987925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报告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生成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661400" y="5057140"/>
            <a:ext cx="4489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📄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615045" y="5541010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交互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问答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42985" y="5601335"/>
            <a:ext cx="46736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B0F0"/>
                </a:solidFill>
              </a:rPr>
              <a:t>💬</a:t>
            </a:r>
            <a:endParaRPr lang="zh-CN" altLang="en-US" sz="160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13970" y="12700"/>
            <a:ext cx="12179300" cy="6844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  <p:txBody>
          <a:bodyPr/>
          <a:p/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484735" y="681634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" name="图片 3" descr="风光电同框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" y="965200"/>
            <a:ext cx="12179935" cy="19888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74040" y="359410"/>
            <a:ext cx="3964940" cy="475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3200" b="0" a:latin="微软雅黑" a:ea="微软雅黑" a:cs="微软雅黑">
                <a:solidFill>
                  <a:srgbClr val="FFFFFF"/>
                </a:solidFill>
                <a:latin typeface="微软雅黑"/>
              </a:rPr>
              <a:t>研究背景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86384" y="2816352"/>
            <a:ext cx="64008" cy="10789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" y="2862072"/>
            <a:ext cx="658368" cy="6583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700784" y="2798064"/>
            <a:ext cx="4526280" cy="347472"/>
          </a:xfrm>
          <a:prstGeom prst="rect">
            <a:avLst/>
          </a:prstGeom>
          <a:noFill/>
        </p:spPr>
        <p:txBody>
          <a:bodyPr wrap="square" lIns="73152" tIns="54864" rIns="73152" bIns="36576" anchor="t">
            <a:spAutoFit/>
          </a:bodyPr>
          <a:lstStyle/>
          <a:p>
            <a:pPr algn="l"/>
            <a:r>
              <a:rPr sz="2200" b="1" a:latin="微软雅黑" a:ea="微软雅黑" a:cs="微软雅黑">
                <a:solidFill>
                  <a:srgbClr val="FFFFFF"/>
                </a:solidFill>
                <a:latin typeface="微软雅黑"/>
              </a:rPr>
              <a:t>能源转型加速与精细化管理需求上升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0784" y="3145536"/>
            <a:ext cx="4526280" cy="768096"/>
          </a:xfrm>
          <a:prstGeom prst="rect">
            <a:avLst/>
          </a:prstGeom>
          <a:noFill/>
        </p:spPr>
        <p:txBody>
          <a:bodyPr wrap="square" lIns="18288" tIns="18288" rIns="36576" bIns="9144" anchor="t">
            <a:spAutoFit/>
          </a:bodyPr>
          <a:lstStyle/>
          <a:p>
            <a:pPr algn="l"/>
            <a:r>
              <a:rPr sz="1550" a:latin="微软雅黑" a:ea="微软雅黑" a:cs="微软雅黑">
                <a:solidFill>
                  <a:srgbClr val="E1E9F0"/>
                </a:solidFill>
                <a:latin typeface="微软雅黑"/>
              </a:rPr>
              <a:t>“双碳”目标与新型电力系统建设持续推进，新能源占比提升后，负荷波动与调度复杂性同步增加，电力系统对高频感知和精细分析提出更高要求。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" y="4069079"/>
            <a:ext cx="64008" cy="1078992"/>
          </a:xfrm>
          <a:prstGeom prst="rect">
            <a:avLst/>
          </a:prstGeom>
          <a:solidFill>
            <a:srgbClr val="25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" y="4114800"/>
            <a:ext cx="658368" cy="6583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00784" y="4050791"/>
            <a:ext cx="4526280" cy="347472"/>
          </a:xfrm>
          <a:prstGeom prst="rect">
            <a:avLst/>
          </a:prstGeom>
          <a:noFill/>
        </p:spPr>
        <p:txBody>
          <a:bodyPr wrap="square" lIns="73152" tIns="54864" rIns="73152" bIns="36576" anchor="t">
            <a:spAutoFit/>
          </a:bodyPr>
          <a:lstStyle/>
          <a:p>
            <a:pPr algn="l"/>
            <a:r>
              <a:rPr sz="2200" b="1" a:latin="微软雅黑" a:ea="微软雅黑" a:cs="微软雅黑">
                <a:solidFill>
                  <a:srgbClr val="FFFFFF"/>
                </a:solidFill>
                <a:latin typeface="微软雅黑"/>
              </a:rPr>
              <a:t>电力数据是观察经济运行的高频窗口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00784" y="4398264"/>
            <a:ext cx="4526280" cy="768096"/>
          </a:xfrm>
          <a:prstGeom prst="rect">
            <a:avLst/>
          </a:prstGeom>
          <a:noFill/>
        </p:spPr>
        <p:txBody>
          <a:bodyPr wrap="square" lIns="18288" tIns="18288" rIns="36576" bIns="9144" anchor="t">
            <a:spAutoFit/>
          </a:bodyPr>
          <a:lstStyle/>
          <a:p>
            <a:pPr algn="l"/>
            <a:r>
              <a:rPr sz="1550" a:latin="微软雅黑" a:ea="微软雅黑" a:cs="微软雅黑">
                <a:solidFill>
                  <a:srgbClr val="E1E9F0"/>
                </a:solidFill>
                <a:latin typeface="微软雅黑"/>
              </a:rPr>
              <a:t>用电量变化能够敏感映射区域生产、行业景气和居民活动，是连接能源运行与宏观经济的重要代理变量，也是“电力看经济”的核心切口。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" y="5321807"/>
            <a:ext cx="64008" cy="1078992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" y="5367528"/>
            <a:ext cx="658368" cy="65836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700784" y="5303520"/>
            <a:ext cx="4526280" cy="347472"/>
          </a:xfrm>
          <a:prstGeom prst="rect">
            <a:avLst/>
          </a:prstGeom>
          <a:noFill/>
        </p:spPr>
        <p:txBody>
          <a:bodyPr wrap="square" lIns="73152" tIns="54864" rIns="73152" bIns="36576" anchor="t">
            <a:spAutoFit/>
          </a:bodyPr>
          <a:lstStyle/>
          <a:p>
            <a:pPr algn="l"/>
            <a:r>
              <a:rPr sz="2200" b="1" a:latin="微软雅黑" a:ea="微软雅黑" a:cs="微软雅黑">
                <a:solidFill>
                  <a:srgbClr val="FFFFFF"/>
                </a:solidFill>
                <a:latin typeface="微软雅黑"/>
              </a:rPr>
              <a:t>多源扰动叠加使传统单一预测方法受限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00784" y="5650992"/>
            <a:ext cx="4526280" cy="768096"/>
          </a:xfrm>
          <a:prstGeom prst="rect">
            <a:avLst/>
          </a:prstGeom>
          <a:noFill/>
        </p:spPr>
        <p:txBody>
          <a:bodyPr wrap="square" lIns="18288" tIns="18288" rIns="36576" bIns="9144" anchor="t">
            <a:spAutoFit/>
          </a:bodyPr>
          <a:lstStyle/>
          <a:p>
            <a:pPr algn="l"/>
            <a:r>
              <a:rPr sz="1550" a:latin="微软雅黑" a:ea="微软雅黑" a:cs="微软雅黑">
                <a:solidFill>
                  <a:srgbClr val="E1E9F0"/>
                </a:solidFill>
                <a:latin typeface="微软雅黑"/>
              </a:rPr>
              <a:t>气象、节假日、政策变化与产业周期共同作用，导致电量波动呈现强非线性、跨尺度和时变性，难以依靠单一模型完成解释与诊断。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37960" y="2834640"/>
            <a:ext cx="4800600" cy="2761488"/>
          </a:xfrm>
          <a:prstGeom prst="roundRect">
            <a:avLst/>
          </a:prstGeom>
          <a:solidFill>
            <a:srgbClr val="0B2135"/>
          </a:solidFill>
          <a:ln w="15240">
            <a:solidFill>
              <a:srgbClr val="497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39128" y="2944368"/>
            <a:ext cx="4398264" cy="329184"/>
          </a:xfrm>
          <a:prstGeom prst="rect">
            <a:avLst/>
          </a:prstGeom>
          <a:noFill/>
        </p:spPr>
        <p:txBody>
          <a:bodyPr wrap="square" lIns="73152" tIns="54864" rIns="73152" bIns="36576" anchor="t">
            <a:spAutoFit/>
          </a:bodyPr>
          <a:lstStyle/>
          <a:p>
            <a:pPr algn="l"/>
            <a:r>
              <a:rPr sz="2300" b="1" a:latin="微软雅黑" a:ea="微软雅黑" a:cs="微软雅黑">
                <a:solidFill>
                  <a:srgbClr val="FFFFFF"/>
                </a:solidFill>
                <a:latin typeface="微软雅黑"/>
              </a:rPr>
              <a:t>背景归纳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4160" y="2907792"/>
            <a:ext cx="640080" cy="640080"/>
          </a:xfrm>
          <a:prstGeom prst="rect">
            <a:avLst/>
          </a:prstGeom>
        </p:spPr>
      </p:pic>
      <p:sp>
        <p:nvSpPr>
          <p:cNvPr id="51" name="Oval 50"/>
          <p:cNvSpPr/>
          <p:nvPr/>
        </p:nvSpPr>
        <p:spPr>
          <a:xfrm>
            <a:off x="6766560" y="3511296"/>
            <a:ext cx="109728" cy="10972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22008" y="3438144"/>
            <a:ext cx="41788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a:latin="微软雅黑" a:ea="微软雅黑" a:cs="微软雅黑">
                <a:solidFill>
                  <a:srgbClr val="E4EBF1"/>
                </a:solidFill>
                <a:latin typeface="微软雅黑"/>
              </a:rPr>
              <a:t>新能源高比例接入，电量波动更复杂</a:t>
            </a:r>
          </a:p>
        </p:txBody>
      </p:sp>
      <p:sp>
        <p:nvSpPr>
          <p:cNvPr id="53" name="Oval 52"/>
          <p:cNvSpPr/>
          <p:nvPr/>
        </p:nvSpPr>
        <p:spPr>
          <a:xfrm>
            <a:off x="6766560" y="3986784"/>
            <a:ext cx="109728" cy="109728"/>
          </a:xfrm>
          <a:prstGeom prst="ellipse">
            <a:avLst/>
          </a:prstGeom>
          <a:solidFill>
            <a:srgbClr val="25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22008" y="3913632"/>
            <a:ext cx="41788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a:latin="微软雅黑" a:ea="微软雅黑" a:cs="微软雅黑">
                <a:solidFill>
                  <a:srgbClr val="E4EBF1"/>
                </a:solidFill>
                <a:latin typeface="微软雅黑"/>
              </a:rPr>
              <a:t>区域—行业—用户三级用电具备经济敏感性</a:t>
            </a:r>
          </a:p>
        </p:txBody>
      </p:sp>
      <p:sp>
        <p:nvSpPr>
          <p:cNvPr id="55" name="Oval 54"/>
          <p:cNvSpPr/>
          <p:nvPr/>
        </p:nvSpPr>
        <p:spPr>
          <a:xfrm>
            <a:off x="6766560" y="4462272"/>
            <a:ext cx="109728" cy="109728"/>
          </a:xfrm>
          <a:prstGeom prst="ellipse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22008" y="4389120"/>
            <a:ext cx="41788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a:latin="微软雅黑" a:ea="微软雅黑" a:cs="微软雅黑">
                <a:solidFill>
                  <a:srgbClr val="E4EBF1"/>
                </a:solidFill>
                <a:latin typeface="微软雅黑"/>
              </a:rPr>
              <a:t>气象、节假日与经济因素可开展多模态融合</a:t>
            </a:r>
          </a:p>
        </p:txBody>
      </p:sp>
      <p:sp>
        <p:nvSpPr>
          <p:cNvPr id="57" name="Oval 56"/>
          <p:cNvSpPr/>
          <p:nvPr/>
        </p:nvSpPr>
        <p:spPr>
          <a:xfrm>
            <a:off x="6766560" y="4937760"/>
            <a:ext cx="109728" cy="109728"/>
          </a:xfrm>
          <a:prstGeom prst="ellipse">
            <a:avLst/>
          </a:prstGeom>
          <a:solidFill>
            <a:srgbClr val="5FC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22008" y="4864608"/>
            <a:ext cx="41788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a:latin="微软雅黑" a:ea="微软雅黑" a:cs="微软雅黑">
                <a:solidFill>
                  <a:srgbClr val="E4EBF1"/>
                </a:solidFill>
                <a:latin typeface="微软雅黑"/>
              </a:rPr>
              <a:t>时序解耦、知识图谱与大模型提供新方法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37960" y="5715000"/>
            <a:ext cx="4800600" cy="566928"/>
          </a:xfrm>
          <a:prstGeom prst="roundRect">
            <a:avLst/>
          </a:prstGeom>
          <a:solidFill>
            <a:srgbClr val="0E3556"/>
          </a:solidFill>
          <a:ln w="13970">
            <a:solidFill>
              <a:srgbClr val="409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/>
          <a:lstStyle/>
          <a:p>
            <a:pPr algn="ctr"/>
            <a:r>
              <a:rPr sz="1820" b="1" a:latin="微软雅黑" a:ea="微软雅黑" a:cs="微软雅黑">
                <a:solidFill>
                  <a:srgbClr val="FFFFFF"/>
                </a:solidFill>
                <a:latin typeface="微软雅黑"/>
              </a:rPr>
              <a:t>项目切入点：把“用电数据”转化为“经济态势感知能力”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-635" y="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325755"/>
            <a:ext cx="3735705" cy="661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研究目标与关键问题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3430" y="1152525"/>
            <a:ext cx="2508250" cy="443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四个研究目标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3430" y="4746625"/>
            <a:ext cx="2870835" cy="37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拟解决的关键问题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>
            <p:custDataLst>
              <p:tags r:id="rId1"/>
            </p:custDataLst>
          </p:nvPr>
        </p:nvSpPr>
        <p:spPr>
          <a:xfrm>
            <a:off x="960120" y="5634355"/>
            <a:ext cx="522605" cy="48133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"/>
            </p:custDataLst>
          </p:nvPr>
        </p:nvSpPr>
        <p:spPr>
          <a:xfrm>
            <a:off x="1011047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endParaRPr lang="en-US" sz="1050" dirty="0"/>
          </a:p>
        </p:txBody>
      </p:sp>
      <p:sp>
        <p:nvSpPr>
          <p:cNvPr id="28" name="Text 26"/>
          <p:cNvSpPr/>
          <p:nvPr>
            <p:custDataLst>
              <p:tags r:id="rId3"/>
            </p:custDataLst>
          </p:nvPr>
        </p:nvSpPr>
        <p:spPr>
          <a:xfrm>
            <a:off x="1541399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复杂关系如何量化？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Shape 28"/>
          <p:cNvSpPr/>
          <p:nvPr>
            <p:custDataLst>
              <p:tags r:id="rId4"/>
            </p:custDataLst>
          </p:nvPr>
        </p:nvSpPr>
        <p:spPr>
          <a:xfrm>
            <a:off x="3819525" y="5612765"/>
            <a:ext cx="509270" cy="509270"/>
          </a:xfrm>
          <a:prstGeom prst="ellipse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5"/>
            </p:custDataLst>
          </p:nvPr>
        </p:nvSpPr>
        <p:spPr>
          <a:xfrm>
            <a:off x="3863975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lang="en-US" sz="1050" dirty="0"/>
          </a:p>
        </p:txBody>
      </p:sp>
      <p:sp>
        <p:nvSpPr>
          <p:cNvPr id="32" name="Text 30"/>
          <p:cNvSpPr/>
          <p:nvPr>
            <p:custDataLst>
              <p:tags r:id="rId6"/>
            </p:custDataLst>
          </p:nvPr>
        </p:nvSpPr>
        <p:spPr>
          <a:xfrm>
            <a:off x="4394327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多源扰动如何精准解耦？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Shape 32"/>
          <p:cNvSpPr/>
          <p:nvPr>
            <p:custDataLst>
              <p:tags r:id="rId7"/>
            </p:custDataLst>
          </p:nvPr>
        </p:nvSpPr>
        <p:spPr>
          <a:xfrm>
            <a:off x="6684645" y="5630545"/>
            <a:ext cx="485140" cy="485140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35" name="Text 33"/>
          <p:cNvSpPr/>
          <p:nvPr>
            <p:custDataLst>
              <p:tags r:id="rId8"/>
            </p:custDataLst>
          </p:nvPr>
        </p:nvSpPr>
        <p:spPr>
          <a:xfrm>
            <a:off x="6716903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lang="en-US" sz="1050" dirty="0"/>
          </a:p>
        </p:txBody>
      </p:sp>
      <p:sp>
        <p:nvSpPr>
          <p:cNvPr id="36" name="Text 34"/>
          <p:cNvSpPr/>
          <p:nvPr>
            <p:custDataLst>
              <p:tags r:id="rId9"/>
            </p:custDataLst>
          </p:nvPr>
        </p:nvSpPr>
        <p:spPr>
          <a:xfrm>
            <a:off x="7247255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图谱、大模型与异常检测如何融合？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Shape 36"/>
          <p:cNvSpPr/>
          <p:nvPr>
            <p:custDataLst>
              <p:tags r:id="rId10"/>
            </p:custDataLst>
          </p:nvPr>
        </p:nvSpPr>
        <p:spPr>
          <a:xfrm>
            <a:off x="9570085" y="5650865"/>
            <a:ext cx="464820" cy="464820"/>
          </a:xfrm>
          <a:prstGeom prst="ellipse">
            <a:avLst/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</p:sp>
      <p:sp>
        <p:nvSpPr>
          <p:cNvPr id="39" name="Text 37"/>
          <p:cNvSpPr/>
          <p:nvPr>
            <p:custDataLst>
              <p:tags r:id="rId11"/>
            </p:custDataLst>
          </p:nvPr>
        </p:nvSpPr>
        <p:spPr>
          <a:xfrm>
            <a:off x="9569831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lang="en-US" sz="1050" dirty="0"/>
          </a:p>
        </p:txBody>
      </p:sp>
      <p:sp>
        <p:nvSpPr>
          <p:cNvPr id="40" name="Text 38"/>
          <p:cNvSpPr/>
          <p:nvPr>
            <p:custDataLst>
              <p:tags r:id="rId12"/>
            </p:custDataLst>
          </p:nvPr>
        </p:nvSpPr>
        <p:spPr>
          <a:xfrm>
            <a:off x="10100183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多智能体如何协同输出可信结果？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05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63" name="矩形 62"/>
          <p:cNvSpPr/>
          <p:nvPr/>
        </p:nvSpPr>
        <p:spPr>
          <a:xfrm>
            <a:off x="891540" y="177038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4712" y="1887855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1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24712" y="2235327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建立电力</a:t>
            </a:r>
            <a:r>
              <a:rPr lang="en-US" altLang="zh-CN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经济动态</a:t>
            </a: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耦合理论框架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91540" y="312547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339840" y="312547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339840" y="177038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19672" y="1887855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9545" y="2171700"/>
            <a:ext cx="4425315" cy="541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构建多源融合的波动解析模型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4712" y="3204591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0905" y="3475355"/>
            <a:ext cx="5205095" cy="694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实现重点行业基础用电量异动监测与智能诊断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19545" y="3125470"/>
            <a:ext cx="460883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4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19545" y="3620770"/>
            <a:ext cx="490855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研发自动报告生成与智能问答一体化智能体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-1270" y="-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380301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研究方法与技术路线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120" y="127952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核心路线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" y="2660904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多源数据输入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72" y="3181858"/>
            <a:ext cx="14447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电量、气象、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节假日、经济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80944" y="2660904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特征解耦分析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2967355" y="3255010"/>
            <a:ext cx="172402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剔除常规波动，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识别跨尺度特征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31266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知识增强诊断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5245735" y="3261360"/>
            <a:ext cx="1761490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知识图谱 + LLM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VAE 检测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9010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多智能体协同</a:t>
            </a: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7727442" y="3253613"/>
            <a:ext cx="1481328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 检索增强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MCP 机制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85832" y="2660904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智能输出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10104755" y="3254883"/>
            <a:ext cx="11704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报告生成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问答交互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1078992" y="509739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关联机制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9010" y="5459730"/>
            <a:ext cx="1682750" cy="764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构建行业敏感度分级与弹性指数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3729990" y="5008880"/>
            <a:ext cx="1582420" cy="378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多模态融合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57600" y="5514340"/>
            <a:ext cx="1866900" cy="709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利用轻量化时序解耦技术去除干扰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65062" y="509866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异动感知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72530" y="5516245"/>
            <a:ext cx="1895475" cy="708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形成多维感知网络与动态诊断策略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987282" y="512406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智能闭环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35085" y="5580380"/>
            <a:ext cx="1682750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打通“数据—知识—文本—交互”全流程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119" name="组合 118"/>
          <p:cNvGrpSpPr/>
          <p:nvPr>
            <p:custDataLst>
              <p:tags r:id="rId1"/>
            </p:custDataLst>
          </p:nvPr>
        </p:nvGrpSpPr>
        <p:grpSpPr>
          <a:xfrm>
            <a:off x="2358645" y="2756335"/>
            <a:ext cx="7629916" cy="626670"/>
            <a:chOff x="3978331" y="2517048"/>
            <a:chExt cx="7629916" cy="626670"/>
          </a:xfrm>
        </p:grpSpPr>
        <p:sp>
          <p:nvSpPr>
            <p:cNvPr id="117" name="箭头: V 形 116"/>
            <p:cNvSpPr/>
            <p:nvPr>
              <p:custDataLst>
                <p:tags r:id="rId2"/>
              </p:custDataLst>
            </p:nvPr>
          </p:nvSpPr>
          <p:spPr>
            <a:xfrm>
              <a:off x="4092037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118" name="箭头: V 形 117"/>
            <p:cNvSpPr/>
            <p:nvPr>
              <p:custDataLst>
                <p:tags r:id="rId3"/>
              </p:custDataLst>
            </p:nvPr>
          </p:nvSpPr>
          <p:spPr>
            <a:xfrm>
              <a:off x="3978331" y="265004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6" name="箭头: V 形 116"/>
            <p:cNvSpPr/>
            <p:nvPr>
              <p:custDataLst>
                <p:tags r:id="rId4"/>
              </p:custDataLst>
            </p:nvPr>
          </p:nvSpPr>
          <p:spPr>
            <a:xfrm>
              <a:off x="6459952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7" name="箭头: V 形 117"/>
            <p:cNvSpPr/>
            <p:nvPr>
              <p:custDataLst>
                <p:tags r:id="rId5"/>
              </p:custDataLst>
            </p:nvPr>
          </p:nvSpPr>
          <p:spPr>
            <a:xfrm>
              <a:off x="6360216" y="264750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8" name="箭头: V 形 117"/>
            <p:cNvSpPr/>
            <p:nvPr>
              <p:custDataLst>
                <p:tags r:id="rId6"/>
              </p:custDataLst>
            </p:nvPr>
          </p:nvSpPr>
          <p:spPr>
            <a:xfrm>
              <a:off x="8644946" y="264750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9" name="箭头: V 形 116"/>
            <p:cNvSpPr/>
            <p:nvPr>
              <p:custDataLst>
                <p:tags r:id="rId7"/>
              </p:custDataLst>
            </p:nvPr>
          </p:nvSpPr>
          <p:spPr>
            <a:xfrm>
              <a:off x="8754842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50" name="箭头: V 形 116"/>
            <p:cNvSpPr/>
            <p:nvPr>
              <p:custDataLst>
                <p:tags r:id="rId8"/>
              </p:custDataLst>
            </p:nvPr>
          </p:nvSpPr>
          <p:spPr>
            <a:xfrm>
              <a:off x="11329767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51" name="箭头: V 形 117"/>
            <p:cNvSpPr/>
            <p:nvPr>
              <p:custDataLst>
                <p:tags r:id="rId9"/>
              </p:custDataLst>
            </p:nvPr>
          </p:nvSpPr>
          <p:spPr>
            <a:xfrm>
              <a:off x="11210981" y="266020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</p:grpSp>
      <p:sp>
        <p:nvSpPr>
          <p:cNvPr id="52" name="Text 4"/>
          <p:cNvSpPr/>
          <p:nvPr/>
        </p:nvSpPr>
        <p:spPr>
          <a:xfrm>
            <a:off x="579120" y="425767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-1270" y="-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418147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创新点与预期成果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2660904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2967355" y="3255010"/>
            <a:ext cx="172402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31266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5245735" y="3261360"/>
            <a:ext cx="1761490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9010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7727442" y="3253613"/>
            <a:ext cx="1481328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85832" y="2660904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32" name="Text 30"/>
          <p:cNvSpPr/>
          <p:nvPr/>
        </p:nvSpPr>
        <p:spPr>
          <a:xfrm>
            <a:off x="1078992" y="509739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9010" y="5459730"/>
            <a:ext cx="1682750" cy="764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3729990" y="5008880"/>
            <a:ext cx="1582420" cy="378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57600" y="5514340"/>
            <a:ext cx="1866900" cy="709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65062" y="509866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72530" y="5516245"/>
            <a:ext cx="1895475" cy="708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35085" y="5580380"/>
            <a:ext cx="1682750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52" name="Text 4"/>
          <p:cNvSpPr/>
          <p:nvPr/>
        </p:nvSpPr>
        <p:spPr>
          <a:xfrm>
            <a:off x="579120" y="425767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>
            <p:custDataLst>
              <p:tags r:id="rId1"/>
            </p:custDataLst>
          </p:nvPr>
        </p:nvSpPr>
        <p:spPr>
          <a:xfrm>
            <a:off x="969010" y="1887220"/>
            <a:ext cx="4753610" cy="1072515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" name="Text 4"/>
          <p:cNvSpPr/>
          <p:nvPr/>
        </p:nvSpPr>
        <p:spPr>
          <a:xfrm>
            <a:off x="802005" y="1393825"/>
            <a:ext cx="157289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三点创新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078865" y="2370455"/>
            <a:ext cx="40538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buClrTx/>
              <a:buSzTx/>
              <a:buFontTx/>
              <a:buNone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把轻量化时序解耦与跨尺度特征分析结合，提升电量波动解析的颗粒度。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79120" y="1877060"/>
            <a:ext cx="4472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ctr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 1：多模态与跨尺度解耦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969010" y="3275330"/>
            <a:ext cx="4784725" cy="1059815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969010" y="4660265"/>
            <a:ext cx="4783455" cy="10502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658495" y="3275330"/>
            <a:ext cx="5065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ctr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 2：知识图谱 + 大模型 + VAE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1078865" y="3734435"/>
            <a:ext cx="40640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由“单一数据驱动”转向“知识驱动 + 推理增强 + 异常检测”的融合范式。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658495" y="4662805"/>
            <a:ext cx="47758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 3：面向应用的多智能体闭环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000"/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1078865" y="5098415"/>
            <a:ext cx="40640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 MCP 协同框架打通底层处理、异常监测、报告生成与决策问答。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21705" y="13227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预期成果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096000" y="1912620"/>
            <a:ext cx="5708650" cy="3667125"/>
          </a:xfrm>
          <a:prstGeom prst="roundRect">
            <a:avLst>
              <a:gd name="adj" fmla="val 2618"/>
            </a:avLst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" name="Shape 20"/>
          <p:cNvSpPr/>
          <p:nvPr>
            <p:custDataLst>
              <p:tags r:id="rId10"/>
            </p:custDataLst>
          </p:nvPr>
        </p:nvSpPr>
        <p:spPr>
          <a:xfrm>
            <a:off x="6514211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6601460" y="2572385"/>
            <a:ext cx="1216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技术报告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28" name="Shape 23"/>
          <p:cNvSpPr/>
          <p:nvPr>
            <p:custDataLst>
              <p:tags r:id="rId12"/>
            </p:custDataLst>
          </p:nvPr>
        </p:nvSpPr>
        <p:spPr>
          <a:xfrm>
            <a:off x="7900162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/>
          </a:p>
        </p:txBody>
      </p:sp>
      <p:sp>
        <p:nvSpPr>
          <p:cNvPr id="31" name="Shape 26"/>
          <p:cNvSpPr/>
          <p:nvPr>
            <p:custDataLst>
              <p:tags r:id="rId13"/>
            </p:custDataLst>
          </p:nvPr>
        </p:nvSpPr>
        <p:spPr>
          <a:xfrm>
            <a:off x="9268333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endParaRPr lang="en-US" altLang="zh-CN"/>
          </a:p>
        </p:txBody>
      </p:sp>
      <p:sp>
        <p:nvSpPr>
          <p:cNvPr id="34" name="Shape 29"/>
          <p:cNvSpPr/>
          <p:nvPr>
            <p:custDataLst>
              <p:tags r:id="rId14"/>
            </p:custDataLst>
          </p:nvPr>
        </p:nvSpPr>
        <p:spPr>
          <a:xfrm>
            <a:off x="10616184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7960995" y="2572385"/>
            <a:ext cx="1163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软件原型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9333865" y="2572385"/>
            <a:ext cx="1283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发明专利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10560685" y="2572385"/>
            <a:ext cx="1412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软件著作权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54" name="文本框 53"/>
          <p:cNvSpPr txBox="1"/>
          <p:nvPr/>
        </p:nvSpPr>
        <p:spPr>
          <a:xfrm>
            <a:off x="6514465" y="3386455"/>
            <a:ext cx="4937125" cy="113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形成《基于特征解耦与知识增强技术的电力看经济大模型智能体研究》综合技术报告。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提交面向电力经济关系智能体的软件原型，覆盖图谱、特征解析、问答和报告生成模块</a:t>
            </a: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6464935" y="5097145"/>
            <a:ext cx="526605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强调“理论创新 + 系统原型 + 知识产权”三位一体输出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380301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实施计划与研究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120" y="127952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进度安排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52" name="Text 4"/>
          <p:cNvSpPr/>
          <p:nvPr/>
        </p:nvSpPr>
        <p:spPr>
          <a:xfrm>
            <a:off x="579120" y="425767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可行性</a:t>
            </a: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1143000" y="2862707"/>
            <a:ext cx="9875520" cy="0"/>
          </a:xfrm>
          <a:prstGeom prst="line">
            <a:avLst/>
          </a:prstGeom>
          <a:noFill/>
          <a:ln w="12700">
            <a:solidFill>
              <a:srgbClr val="A8CDEC"/>
            </a:solidFill>
            <a:prstDash val="solid"/>
            <a:headEnd type="none"/>
            <a:tailEnd type="triangle"/>
          </a:ln>
        </p:spPr>
      </p:sp>
      <p:sp>
        <p:nvSpPr>
          <p:cNvPr id="37" name="Shape 6"/>
          <p:cNvSpPr/>
          <p:nvPr/>
        </p:nvSpPr>
        <p:spPr>
          <a:xfrm>
            <a:off x="1682242" y="2643251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0" name="Shape 7"/>
          <p:cNvSpPr/>
          <p:nvPr/>
        </p:nvSpPr>
        <p:spPr>
          <a:xfrm>
            <a:off x="9144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3" name="Text 8"/>
          <p:cNvSpPr/>
          <p:nvPr/>
        </p:nvSpPr>
        <p:spPr>
          <a:xfrm>
            <a:off x="9144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2026.03—05</a:t>
            </a:r>
            <a:endParaRPr lang="en-US" sz="1320" dirty="0"/>
          </a:p>
        </p:txBody>
      </p:sp>
      <p:sp>
        <p:nvSpPr>
          <p:cNvPr id="54" name="Text 9"/>
          <p:cNvSpPr/>
          <p:nvPr/>
        </p:nvSpPr>
        <p:spPr>
          <a:xfrm>
            <a:off x="868680" y="3223895"/>
            <a:ext cx="2084705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需求调研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文献收集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总体方案设计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4297172" y="2643251"/>
            <a:ext cx="457200" cy="457200"/>
          </a:xfrm>
          <a:prstGeom prst="ellipse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6" name="Shape 11"/>
          <p:cNvSpPr/>
          <p:nvPr/>
        </p:nvSpPr>
        <p:spPr>
          <a:xfrm>
            <a:off x="36576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57" name="Text 12"/>
          <p:cNvSpPr/>
          <p:nvPr/>
        </p:nvSpPr>
        <p:spPr>
          <a:xfrm>
            <a:off x="36576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2026.06—09</a:t>
            </a:r>
            <a:endParaRPr lang="en-US" sz="1320" dirty="0"/>
          </a:p>
        </p:txBody>
      </p:sp>
      <p:sp>
        <p:nvSpPr>
          <p:cNvPr id="59" name="Shape 14"/>
          <p:cNvSpPr/>
          <p:nvPr/>
        </p:nvSpPr>
        <p:spPr>
          <a:xfrm>
            <a:off x="7121017" y="2643251"/>
            <a:ext cx="457200" cy="457200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Shape 15"/>
          <p:cNvSpPr/>
          <p:nvPr/>
        </p:nvSpPr>
        <p:spPr>
          <a:xfrm>
            <a:off x="64008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61" name="Text 16"/>
          <p:cNvSpPr/>
          <p:nvPr/>
        </p:nvSpPr>
        <p:spPr>
          <a:xfrm>
            <a:off x="64008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2026.10—12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Shape 18"/>
          <p:cNvSpPr/>
          <p:nvPr/>
        </p:nvSpPr>
        <p:spPr>
          <a:xfrm>
            <a:off x="9814687" y="2643251"/>
            <a:ext cx="457200" cy="457200"/>
          </a:xfrm>
          <a:prstGeom prst="ellipse">
            <a:avLst/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</p:sp>
      <p:sp>
        <p:nvSpPr>
          <p:cNvPr id="64" name="Shape 19"/>
          <p:cNvSpPr/>
          <p:nvPr/>
        </p:nvSpPr>
        <p:spPr>
          <a:xfrm>
            <a:off x="91440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</p:sp>
      <p:sp>
        <p:nvSpPr>
          <p:cNvPr id="65" name="Text 20"/>
          <p:cNvSpPr/>
          <p:nvPr/>
        </p:nvSpPr>
        <p:spPr>
          <a:xfrm>
            <a:off x="91440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2027.01—05</a:t>
            </a:r>
            <a:endParaRPr lang="en-US" sz="1320" dirty="0"/>
          </a:p>
        </p:txBody>
      </p:sp>
      <p:sp>
        <p:nvSpPr>
          <p:cNvPr id="67" name="Text 9"/>
          <p:cNvSpPr/>
          <p:nvPr/>
        </p:nvSpPr>
        <p:spPr>
          <a:xfrm>
            <a:off x="3255010" y="3347720"/>
            <a:ext cx="2541905" cy="834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电力</a:t>
            </a:r>
            <a:r>
              <a:rPr lang="en-US" altLang="zh-CN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经济关联机制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多源波动解析模型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8" name="Text 9"/>
          <p:cNvSpPr/>
          <p:nvPr/>
        </p:nvSpPr>
        <p:spPr>
          <a:xfrm>
            <a:off x="6129655" y="3259455"/>
            <a:ext cx="253873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知识图谱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异常检测与问答模型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Text 9"/>
          <p:cNvSpPr/>
          <p:nvPr/>
        </p:nvSpPr>
        <p:spPr>
          <a:xfrm>
            <a:off x="9001125" y="3367151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综合技术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完善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专利与软著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申请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Shape 24"/>
          <p:cNvSpPr/>
          <p:nvPr/>
        </p:nvSpPr>
        <p:spPr>
          <a:xfrm>
            <a:off x="868045" y="5029073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C6D9E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4" name="Shape 25"/>
          <p:cNvSpPr/>
          <p:nvPr/>
        </p:nvSpPr>
        <p:spPr>
          <a:xfrm>
            <a:off x="868045" y="5029073"/>
            <a:ext cx="109728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5" name="Text 26"/>
          <p:cNvSpPr/>
          <p:nvPr/>
        </p:nvSpPr>
        <p:spPr>
          <a:xfrm>
            <a:off x="1059942" y="5089652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团队基础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1059942" y="5507609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团队具有自动控制、信号处理与 AI 模型编程基础。</a:t>
            </a:r>
            <a:endParaRPr lang="en-US" sz="1440" dirty="0"/>
          </a:p>
        </p:txBody>
      </p:sp>
      <p:sp>
        <p:nvSpPr>
          <p:cNvPr id="77" name="Shape 28"/>
          <p:cNvSpPr/>
          <p:nvPr/>
        </p:nvSpPr>
        <p:spPr>
          <a:xfrm>
            <a:off x="4364609" y="5029073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C6D9E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8" name="Shape 29"/>
          <p:cNvSpPr/>
          <p:nvPr/>
        </p:nvSpPr>
        <p:spPr>
          <a:xfrm>
            <a:off x="4365244" y="5029073"/>
            <a:ext cx="109728" cy="914400"/>
          </a:xfrm>
          <a:prstGeom prst="rect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79" name="Text 30"/>
          <p:cNvSpPr/>
          <p:nvPr/>
        </p:nvSpPr>
        <p:spPr>
          <a:xfrm>
            <a:off x="4556506" y="5061077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条件保障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Text 31"/>
          <p:cNvSpPr/>
          <p:nvPr/>
        </p:nvSpPr>
        <p:spPr>
          <a:xfrm>
            <a:off x="4556506" y="5507609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具备高性能计算机，并可利用学校实验室资源。</a:t>
            </a:r>
            <a:endParaRPr lang="en-US" sz="1440" dirty="0"/>
          </a:p>
        </p:txBody>
      </p:sp>
      <p:sp>
        <p:nvSpPr>
          <p:cNvPr id="81" name="Shape 32"/>
          <p:cNvSpPr/>
          <p:nvPr/>
        </p:nvSpPr>
        <p:spPr>
          <a:xfrm>
            <a:off x="7860538" y="5029073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C6D9E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2" name="Shape 33"/>
          <p:cNvSpPr/>
          <p:nvPr/>
        </p:nvSpPr>
        <p:spPr>
          <a:xfrm>
            <a:off x="7861935" y="5027930"/>
            <a:ext cx="76200" cy="914400"/>
          </a:xfrm>
          <a:prstGeom prst="rect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83" name="Text 34"/>
          <p:cNvSpPr/>
          <p:nvPr/>
        </p:nvSpPr>
        <p:spPr>
          <a:xfrm>
            <a:off x="8053070" y="5061077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数据来源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4" name="Text 35"/>
          <p:cNvSpPr/>
          <p:nvPr/>
        </p:nvSpPr>
        <p:spPr>
          <a:xfrm>
            <a:off x="8053070" y="5507355"/>
            <a:ext cx="288798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宏观经济与总用电量数据获取公开、透明、成本可控。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矩形 33"/>
          <p:cNvSpPr/>
          <p:nvPr/>
        </p:nvSpPr>
        <p:spPr>
          <a:xfrm>
            <a:off x="13970" y="12700"/>
            <a:ext cx="12179300" cy="6844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  <p:txBody>
          <a:bodyPr/>
          <a:p/>
        </p:txBody>
      </p:sp>
      <p:sp>
        <p:nvSpPr>
          <p:cNvPr id="2" name="Text 0"/>
          <p:cNvSpPr/>
          <p:nvPr/>
        </p:nvSpPr>
        <p:spPr>
          <a:xfrm>
            <a:off x="574040" y="359410"/>
            <a:ext cx="3964940" cy="475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3200" b="0" a:latin="微软雅黑" a:ea="微软雅黑" a:cs="微软雅黑">
                <a:solidFill>
                  <a:srgbClr val="FFFFFF"/>
                </a:solidFill>
                <a:latin typeface="微软雅黑"/>
              </a:rPr>
              <a:t>项目价值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" y="965240"/>
            <a:ext cx="12179899" cy="1988819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834640"/>
            <a:ext cx="1965960" cy="196596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58368" y="4800600"/>
            <a:ext cx="2926080" cy="960120"/>
          </a:xfrm>
          <a:prstGeom prst="roundRect">
            <a:avLst/>
          </a:prstGeom>
          <a:solidFill>
            <a:srgbClr val="0A1E2F"/>
          </a:solidFill>
          <a:ln w="13970">
            <a:solidFill>
              <a:srgbClr val="4F7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 rIns="109728" bIns="36576"/>
          <a:lstStyle/>
          <a:p>
            <a:pPr algn="l"/>
            <a:r>
              <a:rPr sz="1880" b="1" a:latin="微软雅黑" a:ea="微软雅黑" a:cs="微软雅黑">
                <a:solidFill>
                  <a:srgbClr val="FFFFFF"/>
                </a:solidFill>
                <a:latin typeface="微软雅黑"/>
              </a:rPr>
              <a:t>把“用电数据”转化为
可解释、可研判、可交互的经济感知能力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" y="5897880"/>
            <a:ext cx="1170432" cy="3657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9144"/>
          <a:lstStyle/>
          <a:p>
            <a:pPr algn="ctr"/>
            <a:r>
              <a:rPr sz="1420" b="1" a:latin="微软雅黑" a:ea="微软雅黑" a:cs="微软雅黑">
                <a:solidFill>
                  <a:srgbClr val="FFFFFF"/>
                </a:solidFill>
                <a:latin typeface="微软雅黑"/>
              </a:rPr>
              <a:t>异常监测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93392" y="5897880"/>
            <a:ext cx="1170432" cy="365760"/>
          </a:xfrm>
          <a:prstGeom prst="roundRect">
            <a:avLst/>
          </a:prstGeom>
          <a:solidFill>
            <a:srgbClr val="25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9144"/>
          <a:lstStyle/>
          <a:p>
            <a:pPr algn="ctr"/>
            <a:r>
              <a:rPr sz="1420" b="1" a:latin="微软雅黑" a:ea="微软雅黑" a:cs="微软雅黑">
                <a:solidFill>
                  <a:srgbClr val="FFFFFF"/>
                </a:solidFill>
                <a:latin typeface="微软雅黑"/>
              </a:rPr>
              <a:t>智能诊断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096" y="6309360"/>
            <a:ext cx="1170432" cy="365760"/>
          </a:xfrm>
          <a:prstGeom prst="round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9144"/>
          <a:lstStyle/>
          <a:p>
            <a:pPr algn="ctr"/>
            <a:r>
              <a:rPr sz="1420" b="1" a:latin="微软雅黑" a:ea="微软雅黑" a:cs="微软雅黑">
                <a:solidFill>
                  <a:srgbClr val="FFFFFF"/>
                </a:solidFill>
                <a:latin typeface="微软雅黑"/>
              </a:rPr>
              <a:t>报告生成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93392" y="6309360"/>
            <a:ext cx="1170432" cy="365760"/>
          </a:xfrm>
          <a:prstGeom prst="roundRect">
            <a:avLst/>
          </a:prstGeom>
          <a:solidFill>
            <a:srgbClr val="5FC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18288" rIns="36576" bIns="9144"/>
          <a:lstStyle/>
          <a:p>
            <a:pPr algn="ctr"/>
            <a:r>
              <a:rPr sz="1420" b="1" a:latin="微软雅黑" a:ea="微软雅黑" a:cs="微软雅黑">
                <a:solidFill>
                  <a:srgbClr val="FFFFFF"/>
                </a:solidFill>
                <a:latin typeface="微软雅黑"/>
              </a:rPr>
              <a:t>交互问答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0" y="2788920"/>
            <a:ext cx="3794760" cy="1353312"/>
          </a:xfrm>
          <a:prstGeom prst="roundRect">
            <a:avLst/>
          </a:prstGeom>
          <a:solidFill>
            <a:srgbClr val="0E1B27"/>
          </a:solidFill>
          <a:ln w="12700">
            <a:solidFill>
              <a:srgbClr val="56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40480" y="2788920"/>
            <a:ext cx="73152" cy="135331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05072" y="2880360"/>
            <a:ext cx="3538728" cy="310896"/>
          </a:xfrm>
          <a:prstGeom prst="rect">
            <a:avLst/>
          </a:prstGeom>
          <a:noFill/>
        </p:spPr>
        <p:txBody>
          <a:bodyPr wrap="square" lIns="73152" tIns="54864" rIns="73152" bIns="36576" anchor="t">
            <a:spAutoFit/>
          </a:bodyPr>
          <a:lstStyle/>
          <a:p>
            <a:pPr algn="l"/>
            <a:r>
              <a:rPr sz="2000" b="1" a:latin="微软雅黑" a:ea="微软雅黑" a:cs="微软雅黑">
                <a:solidFill>
                  <a:srgbClr val="FFFFFF"/>
                </a:solidFill>
                <a:latin typeface="微软雅黑"/>
              </a:rPr>
              <a:t>理论价值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5072" y="3200400"/>
            <a:ext cx="3538728" cy="877824"/>
          </a:xfrm>
          <a:prstGeom prst="rect">
            <a:avLst/>
          </a:prstGeom>
          <a:noFill/>
        </p:spPr>
        <p:txBody>
          <a:bodyPr wrap="square" lIns="0" tIns="0" rIns="18288" bIns="0" anchor="t">
            <a:spAutoFit/>
          </a:bodyPr>
          <a:lstStyle/>
          <a:p>
            <a:pPr algn="l"/>
            <a:r>
              <a:rPr sz="1450" a:latin="微软雅黑" a:ea="微软雅黑" a:cs="微软雅黑">
                <a:solidFill>
                  <a:srgbClr val="E4EBF1"/>
                </a:solidFill>
                <a:latin typeface="微软雅黑"/>
              </a:rPr>
              <a:t>构建电力—经济动态耦合框架，建立行业用电敏感度分级与弹性指数，增强“电力看经济”的理论解释力。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82127" y="2788920"/>
            <a:ext cx="3703320" cy="1353312"/>
          </a:xfrm>
          <a:prstGeom prst="roundRect">
            <a:avLst/>
          </a:prstGeom>
          <a:solidFill>
            <a:srgbClr val="0E1B27"/>
          </a:solidFill>
          <a:ln w="12700">
            <a:solidFill>
              <a:srgbClr val="56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82127" y="2788920"/>
            <a:ext cx="73152" cy="1353312"/>
          </a:xfrm>
          <a:prstGeom prst="rect">
            <a:avLst/>
          </a:prstGeom>
          <a:solidFill>
            <a:srgbClr val="25B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19" y="2880360"/>
            <a:ext cx="3447287" cy="310896"/>
          </a:xfrm>
          <a:prstGeom prst="rect">
            <a:avLst/>
          </a:prstGeom>
          <a:noFill/>
        </p:spPr>
        <p:txBody>
          <a:bodyPr wrap="square" lIns="73152" tIns="54864" rIns="73152" bIns="36576" anchor="t">
            <a:spAutoFit/>
          </a:bodyPr>
          <a:lstStyle/>
          <a:p>
            <a:pPr algn="l"/>
            <a:r>
              <a:rPr sz="2000" b="1" a:latin="微软雅黑" a:ea="微软雅黑" a:cs="微软雅黑">
                <a:solidFill>
                  <a:srgbClr val="FFFFFF"/>
                </a:solidFill>
                <a:latin typeface="微软雅黑"/>
              </a:rPr>
              <a:t>方法价值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19" y="3200400"/>
            <a:ext cx="3447287" cy="877824"/>
          </a:xfrm>
          <a:prstGeom prst="rect">
            <a:avLst/>
          </a:prstGeom>
          <a:noFill/>
        </p:spPr>
        <p:txBody>
          <a:bodyPr wrap="square" lIns="0" tIns="0" rIns="18288" bIns="0" anchor="t">
            <a:spAutoFit/>
          </a:bodyPr>
          <a:lstStyle/>
          <a:p>
            <a:pPr algn="l"/>
            <a:r>
              <a:rPr sz="1450" a:latin="微软雅黑" a:ea="微软雅黑" a:cs="微软雅黑">
                <a:solidFill>
                  <a:srgbClr val="E4EBF1"/>
                </a:solidFill>
                <a:latin typeface="微软雅黑"/>
              </a:rPr>
              <a:t>融合多源数据、轻量化时序解耦、知识图谱、VAE 与大模型推理，形成可解释的异动识别方法。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0" y="4370832"/>
            <a:ext cx="3794760" cy="1463040"/>
          </a:xfrm>
          <a:prstGeom prst="roundRect">
            <a:avLst/>
          </a:prstGeom>
          <a:solidFill>
            <a:srgbClr val="0E1B27"/>
          </a:solidFill>
          <a:ln w="12700">
            <a:solidFill>
              <a:srgbClr val="56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40480" y="4370832"/>
            <a:ext cx="73152" cy="146304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05072" y="4462272"/>
            <a:ext cx="3538728" cy="310896"/>
          </a:xfrm>
          <a:prstGeom prst="rect">
            <a:avLst/>
          </a:prstGeom>
          <a:noFill/>
        </p:spPr>
        <p:txBody>
          <a:bodyPr wrap="square" lIns="73152" tIns="54864" rIns="73152" bIns="36576" anchor="t">
            <a:spAutoFit/>
          </a:bodyPr>
          <a:lstStyle/>
          <a:p>
            <a:pPr algn="l"/>
            <a:r>
              <a:rPr sz="2000" b="1" a:latin="微软雅黑" a:ea="微软雅黑" a:cs="微软雅黑">
                <a:solidFill>
                  <a:srgbClr val="FFFFFF"/>
                </a:solidFill>
                <a:latin typeface="微软雅黑"/>
              </a:rPr>
              <a:t>应用价值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05072" y="4782312"/>
            <a:ext cx="3538728" cy="987552"/>
          </a:xfrm>
          <a:prstGeom prst="rect">
            <a:avLst/>
          </a:prstGeom>
          <a:noFill/>
        </p:spPr>
        <p:txBody>
          <a:bodyPr wrap="square" lIns="0" tIns="0" rIns="18288" bIns="0" anchor="t">
            <a:spAutoFit/>
          </a:bodyPr>
          <a:lstStyle/>
          <a:p>
            <a:pPr algn="l"/>
            <a:r>
              <a:rPr sz="1450" a:latin="微软雅黑" a:ea="微软雅黑" a:cs="微软雅黑">
                <a:solidFill>
                  <a:srgbClr val="E4EBF1"/>
                </a:solidFill>
                <a:latin typeface="微软雅黑"/>
              </a:rPr>
              <a:t>面向重点行业基础用电量异动监测、智能诊断、报告生成和交互问答，形成可落地的软件原型与分析闭环。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82127" y="4370832"/>
            <a:ext cx="3703320" cy="1463040"/>
          </a:xfrm>
          <a:prstGeom prst="roundRect">
            <a:avLst/>
          </a:prstGeom>
          <a:solidFill>
            <a:srgbClr val="0E1B27"/>
          </a:solidFill>
          <a:ln w="12700">
            <a:solidFill>
              <a:srgbClr val="56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82127" y="4370832"/>
            <a:ext cx="73152" cy="1463040"/>
          </a:xfrm>
          <a:prstGeom prst="rect">
            <a:avLst/>
          </a:prstGeom>
          <a:solidFill>
            <a:srgbClr val="5FC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19" y="4462272"/>
            <a:ext cx="3447287" cy="310896"/>
          </a:xfrm>
          <a:prstGeom prst="rect">
            <a:avLst/>
          </a:prstGeom>
          <a:noFill/>
        </p:spPr>
        <p:txBody>
          <a:bodyPr wrap="square" lIns="73152" tIns="54864" rIns="73152" bIns="36576" anchor="t">
            <a:spAutoFit/>
          </a:bodyPr>
          <a:lstStyle/>
          <a:p>
            <a:pPr algn="l"/>
            <a:r>
              <a:rPr sz="2000" b="1" a:latin="微软雅黑" a:ea="微软雅黑" a:cs="微软雅黑">
                <a:solidFill>
                  <a:srgbClr val="FFFFFF"/>
                </a:solidFill>
                <a:latin typeface="微软雅黑"/>
              </a:rPr>
              <a:t>决策价值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9" y="4782312"/>
            <a:ext cx="3447287" cy="987552"/>
          </a:xfrm>
          <a:prstGeom prst="rect">
            <a:avLst/>
          </a:prstGeom>
          <a:noFill/>
        </p:spPr>
        <p:txBody>
          <a:bodyPr wrap="square" lIns="0" tIns="0" rIns="18288" bIns="0" anchor="t">
            <a:spAutoFit/>
          </a:bodyPr>
          <a:lstStyle/>
          <a:p>
            <a:pPr algn="l"/>
            <a:r>
              <a:rPr sz="1450" a:latin="微软雅黑" a:ea="微软雅黑" a:cs="微软雅黑">
                <a:solidFill>
                  <a:srgbClr val="E4EBF1"/>
                </a:solidFill>
                <a:latin typeface="微软雅黑"/>
              </a:rPr>
              <a:t>为政府部门、电网企业与产业研究提供更及时、精准、自动化的经济态势分析支撑，提升辅助决策效率。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40480" y="6016752"/>
            <a:ext cx="7744968" cy="530352"/>
          </a:xfrm>
          <a:prstGeom prst="roundRect">
            <a:avLst/>
          </a:prstGeom>
          <a:solidFill>
            <a:srgbClr val="0D2F4A"/>
          </a:solidFill>
          <a:ln w="12700">
            <a:solidFill>
              <a:srgbClr val="588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18288"/>
          <a:lstStyle/>
          <a:p>
            <a:pPr algn="ctr"/>
            <a:r>
              <a:rPr sz="1700" b="1" a:latin="微软雅黑" a:ea="微软雅黑" a:cs="微软雅黑">
                <a:solidFill>
                  <a:srgbClr val="FFFFFF"/>
                </a:solidFill>
                <a:latin typeface="微软雅黑"/>
              </a:rPr>
              <a:t>输出：异常监测  ·  智能诊断  ·  报告生成  ·  交互问答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2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3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4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5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6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7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8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9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0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1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2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3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4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5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6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7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8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9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0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1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2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3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4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5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6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7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8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29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0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1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2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3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4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5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6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7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38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39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0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1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2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3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4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WPS 演示</Application>
  <PresentationFormat>宽屏</PresentationFormat>
  <Paragraphs>252</Paragraphs>
  <Slides>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宋体</vt:lpstr>
      <vt:lpstr>Wingdings</vt:lpstr>
      <vt:lpstr>Noto Sans CJK SC</vt:lpstr>
      <vt:lpstr>AMGDT</vt:lpstr>
      <vt:lpstr>思源黑体</vt:lpstr>
      <vt:lpstr>演示创黑FLY Heavy</vt:lpstr>
      <vt:lpstr>微软雅黑</vt:lpstr>
      <vt:lpstr>黑体</vt:lpstr>
      <vt:lpstr>Noto Sans CJK SC</vt:lpstr>
      <vt:lpstr>Noto Sans CJK SC</vt:lpstr>
      <vt:lpstr>Noto Sans CJK SC</vt:lpstr>
      <vt:lpstr>等线</vt:lpstr>
      <vt:lpstr>Arial Unicode MS</vt:lpstr>
      <vt:lpstr>Wingdings</vt:lpstr>
      <vt:lpstr>Adobe 明體 Std 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基于特征解耦与知识增强的“电力看经济”智能体构建方法</dc:title>
  <dc:creator>OpenAI</dc:creator>
  <dc:subject>SRTP 项目答辩</dc:subject>
  <cp:lastModifiedBy>李佳昱</cp:lastModifiedBy>
  <cp:revision>8</cp:revision>
  <dcterms:created xsi:type="dcterms:W3CDTF">2026-04-11T05:39:00Z</dcterms:created>
  <dcterms:modified xsi:type="dcterms:W3CDTF">2026-04-16T11:44:06Z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3CF8DDB6E7E647649CEA63C7C6436ED3_12</vt:lpwstr>
  </property>
  <property fmtid="{D5CDD505-2E9C-101B-9397-08002B2CF9AE}" pid="3" name="KSOProductBuildVer">
    <vt:lpwstr>2052-12.1.0.23542</vt:lpwstr>
  </property>
</Properties>
</file>