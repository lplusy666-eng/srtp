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0" r:id="rId13"/>
    <p:sldId id="258" r:id="rId6"/>
    <p:sldId id="259" r:id="rId7"/>
    <p:sldId id="263" r:id="rId8"/>
    <p:sldId id="265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64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3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各位老师好，我汇报的题目是《基于特征解耦与知识增强的“电力看经济”智能体构建方法》。本项目聚焦一个核心问题：如何把复杂的电量变化转化为对经济态势的可解释、可交互、可落地判断。我们希望利用多源数据融合、知识图谱和大模型技术，构建一个能够监测异常、生成报告并支持问答的智能体原型。接下来我从背景意义、研究目标、技术路线、创新点和实施计划五个方面进行汇报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本项目的提出主要有三方面背景。第一，在双碳战略和能源转型背景下，电力系统越来越需要智能化、精细化管理。第二，电力消费和宏观经济之间存在紧密耦合关系，用电变化本身就是观察经济运行的重要窗口。第三，传统方法往往只做单一预测，难以同时处理气象、节假日和经济因素的叠加扰动。因此，我们的目标不是简单预测电量，而是把用电数据真正转化为经济态势感知能力，形成从监测、诊断到报告生成和问答交互的完整闭环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围绕总目标，项目设置了四个层层递进的研究目标：首先建立电力和经济的动态演化理论框架；其次构建多源融合的电量波动解析模型；第三实现重点行业的异动监测与智能诊断；最后形成自动报告生成和智能问答能力。对应地，我们重点解决四个关键问题：一是复杂关系如何量化，二是多源数据如何融合并解耦，三是知识图谱、大模型和异常检测如何深度结合，四是多智能体如何协同输出可信结果。这四个问题也是后续技术路线设计的核心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技术路线可以概括为五步。第一步是多源数据输入，整合电量、气象、节假日和宏观经济信息。第二步是特征解耦分析，通过轻量化时序解耦剥离常规波动，识别区域、行业和用户三级特征。第三步是知识增强诊断，把电力经济知识图谱、语义大模型和 VAE 异常检测结合起来，提高诊断的准确性和可解释性。第四步是通过 RAG 和 MCP 机制实现多智能体协同。最后输出两类能力：一类是自动生成精准分析报告，另一类是支持交互式问答。这样就形成了从数据到知识再到决策表达的完整链路。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技术路线可以概括为五步。第一步是多源数据输入，整合电量、气象、节假日和宏观经济信息。第二步是特征解耦分析，通过轻量化时序解耦剥离常规波动，识别区域、行业和用户三级特征。第三步是知识增强诊断，把电力经济知识图谱、语义大模型和 VAE 异常检测结合起来，提高诊断的准确性和可解释性。第四步是通过 RAG 和 MCP 机制实现多智能体协同。最后输出两类能力：一类是自动生成精准分析报告，另一类是支持交互式问答。这样就形成了从数据到知识再到决策表达的完整链路。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技术路线可以概括为五步。第一步是多源数据输入，整合电量、气象、节假日和宏观经济信息。第二步是特征解耦分析，通过轻量化时序解耦剥离常规波动，识别区域、行业和用户三级特征。第三步是知识增强诊断，把电力经济知识图谱、语义大模型和 VAE 异常检测结合起来，提高诊断的准确性和可解释性。第四步是通过 RAG 和 MCP 机制实现多智能体协同。最后输出两类能力：一类是自动生成精准分析报告，另一类是支持交互式问答。这样就形成了从数据到知识再到决策表达的完整链路。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【演讲稿】
本项目的提出主要有三方面背景。第一，在双碳战略和能源转型背景下，电力系统越来越需要智能化、精细化管理。第二，电力消费和宏观经济之间存在紧密耦合关系，用电变化本身就是观察经济运行的重要窗口。第三，传统方法往往只做单一预测，难以同时处理气象、节假日和经济因素的叠加扰动。因此，我们的目标不是简单预测电量，而是把用电数据真正转化为经济态势感知能力，形成从监测、诊断到报告生成和问答交互的完整闭环。
[Sources]
- 用户上传申报书：SRTP申报书(2).pdf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3B74"/>
          </a:solidFill>
          <a:ln w="12700">
            <a:solidFill>
              <a:srgbClr val="123B7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B74"/>
          </a:solidFill>
          <a:ln w="12700">
            <a:solidFill>
              <a:srgbClr val="123B7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12191695" cy="109728"/>
          </a:xfrm>
          <a:prstGeom prst="rect">
            <a:avLst/>
          </a:prstGeom>
          <a:solidFill>
            <a:srgbClr val="22A6E7"/>
          </a:solidFill>
          <a:ln w="12700">
            <a:solidFill>
              <a:srgbClr val="22A6E7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9282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9282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.svg"/><Relationship Id="rId11" Type="http://schemas.openxmlformats.org/officeDocument/2006/relationships/image" Target="../media/image1.png"/><Relationship Id="rId10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4" Type="http://schemas.openxmlformats.org/officeDocument/2006/relationships/notesSlide" Target="../notesSlides/notesSlide3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9" Type="http://schemas.openxmlformats.org/officeDocument/2006/relationships/notesSlide" Target="../notesSlides/notesSlide5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44.xml"/><Relationship Id="rId16" Type="http://schemas.openxmlformats.org/officeDocument/2006/relationships/tags" Target="../tags/tag43.xml"/><Relationship Id="rId15" Type="http://schemas.openxmlformats.org/officeDocument/2006/relationships/tags" Target="../tags/tag42.xml"/><Relationship Id="rId14" Type="http://schemas.openxmlformats.org/officeDocument/2006/relationships/tags" Target="../tags/tag41.xml"/><Relationship Id="rId13" Type="http://schemas.openxmlformats.org/officeDocument/2006/relationships/tags" Target="../tags/tag40.xml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tags" Target="../tags/tag2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image" Target="../media/image5.png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7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2.svg"/><Relationship Id="rId11" Type="http://schemas.openxmlformats.org/officeDocument/2006/relationships/image" Target="../media/image1.png"/><Relationship Id="rId10" Type="http://schemas.openxmlformats.org/officeDocument/2006/relationships/image" Target="../media/image7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662940" y="0"/>
            <a:ext cx="12854940" cy="771842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-364490" y="-491490"/>
            <a:ext cx="13413105" cy="8166735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pic>
        <p:nvPicPr>
          <p:cNvPr id="44" name="图形 43" descr="箭头: 直 纯色填充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6228264" y="8265697"/>
            <a:ext cx="914400" cy="9144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812405" y="8522970"/>
            <a:ext cx="1790065" cy="476885"/>
          </a:xfrm>
          <a:prstGeom prst="roundRect">
            <a:avLst>
              <a:gd name="adj" fmla="val 21053"/>
            </a:avLst>
          </a:prstGeom>
          <a:solidFill>
            <a:schemeClr val="bg1">
              <a:alpha val="2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pPr algn="ctr">
              <a:buClrTx/>
              <a:buSzTx/>
              <a:buFontTx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演示创黑FLY Heavy" panose="02000600000000000000" pitchFamily="2" charset="-122"/>
              </a:rPr>
              <a:t>一体化智能体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演示创黑FLY Heavy" panose="02000600000000000000" pitchFamily="2" charset="-122"/>
            </a:endParaRPr>
          </a:p>
        </p:txBody>
      </p:sp>
      <p:pic>
        <p:nvPicPr>
          <p:cNvPr id="3" name="图片 2" descr="电力传输图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15010" y="-322580"/>
            <a:ext cx="12894310" cy="4063365"/>
          </a:xfrm>
          <a:prstGeom prst="rect">
            <a:avLst/>
          </a:prstGeom>
        </p:spPr>
      </p:pic>
      <p:sp>
        <p:nvSpPr>
          <p:cNvPr id="10" name="Text 8"/>
          <p:cNvSpPr/>
          <p:nvPr/>
        </p:nvSpPr>
        <p:spPr>
          <a:xfrm>
            <a:off x="444500" y="0"/>
            <a:ext cx="5783580" cy="21405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</a:t>
            </a:r>
            <a:r>
              <a:rPr lang="zh-CN" altLang="en-US" sz="4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特征解耦</a:t>
            </a: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zh-CN" altLang="en-US" sz="4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知识增强</a:t>
            </a: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“电力看经济”智能体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构建方法</a:t>
            </a:r>
            <a:endParaRPr lang="en-US" sz="2800" b="1" dirty="0">
              <a:solidFill>
                <a:srgbClr val="123B7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80135" y="6330950"/>
            <a:ext cx="1726565" cy="505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能源转型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16805" y="6334760"/>
            <a:ext cx="1824990" cy="5086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多源融合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951595" y="6338570"/>
            <a:ext cx="1887220" cy="5048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智能决策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5160" y="3846672"/>
            <a:ext cx="3742526" cy="185335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汇报人：李佳昱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学院：电气工程学院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指导教师：李知艺 研究员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项目周期：2026.03—2027.05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46180" y="683666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13" name="Shape 12"/>
          <p:cNvSpPr/>
          <p:nvPr/>
        </p:nvSpPr>
        <p:spPr>
          <a:xfrm>
            <a:off x="4345305" y="4415155"/>
            <a:ext cx="3799840" cy="994410"/>
          </a:xfrm>
          <a:prstGeom prst="roundRect">
            <a:avLst>
              <a:gd name="adj" fmla="val 21053"/>
            </a:avLst>
          </a:prstGeom>
          <a:solidFill>
            <a:schemeClr val="bg1">
              <a:alpha val="2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pPr algn="ctr"/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面向复杂电量变化的经济态势感知智能体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8615045" y="3921760"/>
            <a:ext cx="1876425" cy="45339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异常</a:t>
            </a:r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监测</a:t>
            </a:r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661400" y="3978910"/>
            <a:ext cx="41910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rgbClr val="FFC000"/>
                </a:solidFill>
              </a:rPr>
              <a:t>⚡</a:t>
            </a:r>
            <a:endParaRPr lang="zh-CN" altLang="en-US" sz="1600">
              <a:solidFill>
                <a:srgbClr val="FFC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615045" y="4457065"/>
            <a:ext cx="1876425" cy="45339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智能</a:t>
            </a:r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诊断</a:t>
            </a:r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661400" y="4512945"/>
            <a:ext cx="49847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rgbClr val="92D050"/>
                </a:solidFill>
              </a:rPr>
              <a:t>📊</a:t>
            </a:r>
            <a:endParaRPr lang="zh-CN" altLang="en-US" sz="1600">
              <a:solidFill>
                <a:srgbClr val="92D05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8615045" y="4987925"/>
            <a:ext cx="1876425" cy="45339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报告</a:t>
            </a:r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生成</a:t>
            </a:r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661400" y="5057140"/>
            <a:ext cx="44894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chemeClr val="accent2"/>
                </a:solidFill>
              </a:rPr>
              <a:t>📄</a:t>
            </a:r>
            <a:endParaRPr lang="zh-CN" altLang="en-US" sz="1600">
              <a:solidFill>
                <a:schemeClr val="accent2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8615045" y="5541010"/>
            <a:ext cx="1876425" cy="45339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交互</a:t>
            </a:r>
            <a:r>
              <a: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rPr>
              <a:t>问答</a:t>
            </a:r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642985" y="5601335"/>
            <a:ext cx="467360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1600">
                <a:solidFill>
                  <a:srgbClr val="00B0F0"/>
                </a:solidFill>
              </a:rPr>
              <a:t>💬</a:t>
            </a:r>
            <a:endParaRPr lang="zh-CN" altLang="en-US" sz="160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13970" y="12700"/>
            <a:ext cx="12179300" cy="68446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58368" y="1042416"/>
            <a:ext cx="10835640" cy="0"/>
          </a:xfrm>
          <a:prstGeom prst="line">
            <a:avLst/>
          </a:prstGeom>
          <a:noFill/>
          <a:ln w="12700">
            <a:solidFill>
              <a:srgbClr val="C6D9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1645" y="2700000"/>
            <a:ext cx="100330" cy="1041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978025" y="2700000"/>
            <a:ext cx="2278380" cy="421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能源转型加速</a:t>
            </a:r>
            <a:endParaRPr lang="zh-CN" altLang="en-US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978025" y="3060000"/>
            <a:ext cx="2944495" cy="621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"双碳"战略推进，新能源装机持续扩张，电力系统精细化运营管理需求急剧上升</a:t>
            </a:r>
            <a:endParaRPr lang="zh-CN" altLang="en-US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33550" y="4100000"/>
            <a:ext cx="98425" cy="951230"/>
          </a:xfrm>
          <a:prstGeom prst="rect">
            <a:avLst/>
          </a:prstGeom>
          <a:solidFill>
            <a:srgbClr val="25B59A"/>
          </a:solidFill>
          <a:ln w="12700">
            <a:solidFill>
              <a:srgbClr val="25B5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78025" y="4100000"/>
            <a:ext cx="2944495" cy="4394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电力与经济强耦合</a:t>
            </a:r>
            <a:endParaRPr lang="zh-CN" altLang="en-US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978025" y="4460000"/>
            <a:ext cx="2944495" cy="5759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用电变化映射宏观经济冷暖：制造业、服务业、居民用电波动折射行业景气与区域发展分化</a:t>
            </a:r>
            <a:endParaRPr lang="zh-CN" altLang="en-US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740535" y="5480000"/>
            <a:ext cx="91440" cy="1125220"/>
          </a:xfrm>
          <a:prstGeom prst="rect">
            <a:avLst/>
          </a:prstGeom>
          <a:solidFill>
            <a:srgbClr val="F29D38"/>
          </a:solidFill>
          <a:ln w="12700">
            <a:solidFill>
              <a:srgbClr val="F29D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78025" y="5480000"/>
            <a:ext cx="2944495" cy="397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传统方法存在局限</a:t>
            </a:r>
            <a:endParaRPr lang="zh-CN" altLang="en-US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978025" y="5840000"/>
            <a:ext cx="2944495" cy="9169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传统单变量预测忽视气象扰动、节假日效应与经济周期的叠加干扰，误差居高不下</a:t>
            </a:r>
            <a:endParaRPr lang="zh-CN" altLang="en-US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484735" y="681634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4" name="图片 3" descr="风光电同框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" y="965200"/>
            <a:ext cx="12179935" cy="198882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74040" y="359410"/>
            <a:ext cx="3964940" cy="475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研究背景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7" name="图片 6" descr="green-energy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5350" y="2650000"/>
            <a:ext cx="760730" cy="760730"/>
          </a:xfrm>
          <a:prstGeom prst="rect">
            <a:avLst/>
          </a:prstGeom>
        </p:spPr>
      </p:pic>
      <p:pic>
        <p:nvPicPr>
          <p:cNvPr id="11" name="图片 10" descr="economic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5345" y="4050000"/>
            <a:ext cx="843915" cy="843915"/>
          </a:xfrm>
          <a:prstGeom prst="rect">
            <a:avLst/>
          </a:prstGeom>
        </p:spPr>
      </p:pic>
      <p:pic>
        <p:nvPicPr>
          <p:cNvPr id="19" name="图片 18" descr="analysis (1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240" y="5430000"/>
            <a:ext cx="751840" cy="751840"/>
          </a:xfrm>
          <a:prstGeom prst="rect">
            <a:avLst/>
          </a:prstGeom>
        </p:spPr>
      </p:pic>
      <p:pic>
        <p:nvPicPr>
          <p:cNvPr id="44" name="图形 43" descr="箭头: 直 纯色填充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0800000">
            <a:off x="7104564" y="6815992"/>
            <a:ext cx="914400" cy="914400"/>
          </a:xfrm>
          <a:prstGeom prst="rect">
            <a:avLst/>
          </a:prstGeom>
        </p:spPr>
      </p:pic>
      <p:sp>
        <p:nvSpPr>
          <p:cNvPr id="500" name="RPHdr"/>
          <p:cNvSpPr/>
          <p:nvPr/>
        </p:nvSpPr>
        <p:spPr>
          <a:xfrm>
            <a:off x="5650000" y="2100000"/>
            <a:ext cx="5950000" cy="40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2200" b="1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电力数据的经济洞察价值</a:t>
            </a:r>
          </a:p>
        </p:txBody>
      </p:sp>
      <p:sp>
        <p:nvSpPr>
          <p:cNvPr id="501" name="RPLine"/>
          <p:cNvSpPr/>
          <p:nvPr/>
        </p:nvSpPr>
        <p:spPr>
          <a:xfrm>
            <a:off x="5650000" y="2560000"/>
            <a:ext cx="5950000" cy="0"/>
          </a:xfrm>
          <a:prstGeom prst="line">
            <a:avLst/>
          </a:prstGeom>
          <a:noFill/>
          <a:ln w="9525">
            <a:solidFill>
              <a:srgbClr val="1E88E5"/>
            </a:solidFill>
          </a:ln>
        </p:spPr>
      </p:sp>
      <p:sp>
        <p:nvSpPr>
          <p:cNvPr id="502" name="SN0"/>
          <p:cNvSpPr/>
          <p:nvPr/>
        </p:nvSpPr>
        <p:spPr>
          <a:xfrm>
            <a:off x="5650000" y="2600000"/>
            <a:ext cx="1800000" cy="52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3600" b="1" dirty="0">
                <a:solidFill>
                  <a:srgbClr val="1E88E5"/>
                </a:soli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~0.85</a:t>
            </a:r>
          </a:p>
        </p:txBody>
      </p:sp>
      <p:sp>
        <p:nvSpPr>
          <p:cNvPr id="503" name="SD0"/>
          <p:cNvSpPr/>
          <p:nvPr/>
        </p:nvSpPr>
        <p:spPr>
          <a:xfrm>
            <a:off x="5650000" y="3120000"/>
            <a:ext cx="1800000" cy="48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13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全国电力-GDP</a:t>
            </a:r>
          </a:p>
          <a:p>
            <a:pPr marL="0" indent="0">
              <a:buNone/>
            </a:pPr>
            <a:r>
              <a:rPr lang="zh-CN" altLang="en-US" sz="13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弹性系数</a:t>
            </a:r>
          </a:p>
        </p:txBody>
      </p:sp>
      <p:sp>
        <p:nvSpPr>
          <p:cNvPr id="505" name="SN1"/>
          <p:cNvSpPr/>
          <p:nvPr/>
        </p:nvSpPr>
        <p:spPr>
          <a:xfrm>
            <a:off x="7540000" y="2600000"/>
            <a:ext cx="1800000" cy="52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3600" b="1" dirty="0">
                <a:solidFill>
                  <a:srgbClr val="25B59A"/>
                </a:soli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75%</a:t>
            </a:r>
          </a:p>
        </p:txBody>
      </p:sp>
      <p:sp>
        <p:nvSpPr>
          <p:cNvPr id="506" name="SD1"/>
          <p:cNvSpPr/>
          <p:nvPr/>
        </p:nvSpPr>
        <p:spPr>
          <a:xfrm>
            <a:off x="7540000" y="3120000"/>
            <a:ext cx="1800000" cy="48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13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六大行业用电</a:t>
            </a:r>
          </a:p>
          <a:p>
            <a:pPr marL="0" indent="0">
              <a:buNone/>
            </a:pPr>
            <a:r>
              <a:rPr lang="zh-CN" altLang="en-US" sz="13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占全社会比重</a:t>
            </a:r>
          </a:p>
        </p:txBody>
      </p:sp>
      <p:sp>
        <p:nvSpPr>
          <p:cNvPr id="508" name="SN2"/>
          <p:cNvSpPr/>
          <p:nvPr/>
        </p:nvSpPr>
        <p:spPr>
          <a:xfrm>
            <a:off x="9430000" y="2600000"/>
            <a:ext cx="1800000" cy="52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3600" b="1" dirty="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&gt;15%</a:t>
            </a:r>
          </a:p>
        </p:txBody>
      </p:sp>
      <p:sp>
        <p:nvSpPr>
          <p:cNvPr id="509" name="SD2"/>
          <p:cNvSpPr/>
          <p:nvPr/>
        </p:nvSpPr>
        <p:spPr>
          <a:xfrm>
            <a:off x="9430000" y="3120000"/>
            <a:ext cx="1800000" cy="48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13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传统预测模型</a:t>
            </a:r>
          </a:p>
          <a:p>
            <a:pPr marL="0" indent="0">
              <a:buNone/>
            </a:pPr>
            <a:r>
              <a:rPr lang="zh-CN" altLang="en-US" sz="13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扰动期误差</a:t>
            </a:r>
          </a:p>
        </p:txBody>
      </p:sp>
      <p:sp>
        <p:nvSpPr>
          <p:cNvPr id="510" name="RPLine2"/>
          <p:cNvSpPr/>
          <p:nvPr/>
        </p:nvSpPr>
        <p:spPr>
          <a:xfrm>
            <a:off x="5650000" y="3700000"/>
            <a:ext cx="5950000" cy="0"/>
          </a:xfrm>
          <a:prstGeom prst="line">
            <a:avLst/>
          </a:prstGeom>
          <a:noFill/>
          <a:ln w="9525">
            <a:solidFill>
              <a:srgbClr val="334455"/>
            </a:solidFill>
          </a:ln>
        </p:spPr>
      </p:sp>
      <p:sp>
        <p:nvSpPr>
          <p:cNvPr id="511" name="CB0"/>
          <p:cNvSpPr/>
          <p:nvPr/>
        </p:nvSpPr>
        <p:spPr>
          <a:xfrm>
            <a:off x="5650000" y="3760000"/>
            <a:ext cx="90000" cy="860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" name="CT0"/>
          <p:cNvSpPr/>
          <p:nvPr/>
        </p:nvSpPr>
        <p:spPr>
          <a:xfrm>
            <a:off x="5790000" y="3790000"/>
            <a:ext cx="5750000" cy="33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1800" b="1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⚡  能源转型加速</a:t>
            </a:r>
          </a:p>
        </p:txBody>
      </p:sp>
      <p:sp>
        <p:nvSpPr>
          <p:cNvPr id="513" name="CBb0"/>
          <p:cNvSpPr/>
          <p:nvPr/>
        </p:nvSpPr>
        <p:spPr>
          <a:xfrm>
            <a:off x="5790000" y="4130000"/>
            <a:ext cx="5750000" cy="45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145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"双碳"战略推进，新能源装机持续扩张，电力调度复杂度急剧上升，传统粗放分析框架亟待升级</a:t>
            </a:r>
          </a:p>
        </p:txBody>
      </p:sp>
      <p:sp>
        <p:nvSpPr>
          <p:cNvPr id="514" name="CB1"/>
          <p:cNvSpPr/>
          <p:nvPr/>
        </p:nvSpPr>
        <p:spPr>
          <a:xfrm>
            <a:off x="5650000" y="4700000"/>
            <a:ext cx="90000" cy="860000"/>
          </a:xfrm>
          <a:prstGeom prst="rect">
            <a:avLst/>
          </a:prstGeom>
          <a:solidFill>
            <a:srgbClr val="25B59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5" name="CT1"/>
          <p:cNvSpPr/>
          <p:nvPr/>
        </p:nvSpPr>
        <p:spPr>
          <a:xfrm>
            <a:off x="5790000" y="4730000"/>
            <a:ext cx="5750000" cy="33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1800" b="1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📊  电力-经济强耦合</a:t>
            </a:r>
          </a:p>
        </p:txBody>
      </p:sp>
      <p:sp>
        <p:nvSpPr>
          <p:cNvPr id="516" name="CBb1"/>
          <p:cNvSpPr/>
          <p:nvPr/>
        </p:nvSpPr>
        <p:spPr>
          <a:xfrm>
            <a:off x="5790000" y="5070000"/>
            <a:ext cx="5750000" cy="45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145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分钟级用电数据具有先于宏观统计发布的"经济晴雨表"属性，可映射行业景气与区域分化</a:t>
            </a:r>
          </a:p>
        </p:txBody>
      </p:sp>
      <p:sp>
        <p:nvSpPr>
          <p:cNvPr id="517" name="CB2"/>
          <p:cNvSpPr/>
          <p:nvPr/>
        </p:nvSpPr>
        <p:spPr>
          <a:xfrm>
            <a:off x="5650000" y="5640000"/>
            <a:ext cx="90000" cy="860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8" name="CT2"/>
          <p:cNvSpPr/>
          <p:nvPr/>
        </p:nvSpPr>
        <p:spPr>
          <a:xfrm>
            <a:off x="5790000" y="5670000"/>
            <a:ext cx="5750000" cy="33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1800" b="1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🤖  AI技术机遇成熟</a:t>
            </a:r>
          </a:p>
        </p:txBody>
      </p:sp>
      <p:sp>
        <p:nvSpPr>
          <p:cNvPr id="519" name="CBb2"/>
          <p:cNvSpPr/>
          <p:nvPr/>
        </p:nvSpPr>
        <p:spPr>
          <a:xfrm>
            <a:off x="5790000" y="6010000"/>
            <a:ext cx="5750000" cy="45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145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LLM推理、知识图谱与RAG检索增强技术工程化落地，为知识驱动智能分析系统奠定技术基础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/>
        </p:nvSpPr>
        <p:spPr>
          <a:xfrm>
            <a:off x="-635" y="-635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-635" y="635"/>
            <a:ext cx="12192635" cy="6857365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658495" y="325755"/>
            <a:ext cx="3735705" cy="6616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研究目标与关键问题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1042416"/>
            <a:ext cx="10835640" cy="0"/>
          </a:xfrm>
          <a:prstGeom prst="line">
            <a:avLst/>
          </a:prstGeom>
          <a:noFill/>
          <a:ln w="12700">
            <a:solidFill>
              <a:srgbClr val="C6D9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3430" y="1152525"/>
            <a:ext cx="2508250" cy="4432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四个研究目标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73430" y="4746625"/>
            <a:ext cx="2870835" cy="37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拟解决的关键问题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Shape 24"/>
          <p:cNvSpPr/>
          <p:nvPr>
            <p:custDataLst>
              <p:tags r:id="rId1"/>
            </p:custDataLst>
          </p:nvPr>
        </p:nvSpPr>
        <p:spPr>
          <a:xfrm>
            <a:off x="960120" y="5634355"/>
            <a:ext cx="522605" cy="48133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7" name="Text 25"/>
          <p:cNvSpPr/>
          <p:nvPr>
            <p:custDataLst>
              <p:tags r:id="rId2"/>
            </p:custDataLst>
          </p:nvPr>
        </p:nvSpPr>
        <p:spPr>
          <a:xfrm>
            <a:off x="1011047" y="5796026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01</a:t>
            </a:r>
            <a:endParaRPr lang="en-US" sz="1050" dirty="0"/>
          </a:p>
        </p:txBody>
      </p:sp>
      <p:sp>
        <p:nvSpPr>
          <p:cNvPr id="28" name="Text 26"/>
          <p:cNvSpPr/>
          <p:nvPr>
            <p:custDataLst>
              <p:tags r:id="rId3"/>
            </p:custDataLst>
          </p:nvPr>
        </p:nvSpPr>
        <p:spPr>
          <a:xfrm>
            <a:off x="1541399" y="5658866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复杂关系如何量化？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Shape 28"/>
          <p:cNvSpPr/>
          <p:nvPr>
            <p:custDataLst>
              <p:tags r:id="rId4"/>
            </p:custDataLst>
          </p:nvPr>
        </p:nvSpPr>
        <p:spPr>
          <a:xfrm>
            <a:off x="3819525" y="5612765"/>
            <a:ext cx="509270" cy="509270"/>
          </a:xfrm>
          <a:prstGeom prst="ellipse">
            <a:avLst/>
          </a:prstGeom>
          <a:solidFill>
            <a:srgbClr val="25B59A"/>
          </a:solidFill>
          <a:ln w="12700">
            <a:solidFill>
              <a:srgbClr val="25B59A"/>
            </a:solidFill>
            <a:prstDash val="solid"/>
          </a:ln>
        </p:spPr>
      </p:sp>
      <p:sp>
        <p:nvSpPr>
          <p:cNvPr id="31" name="Text 29"/>
          <p:cNvSpPr/>
          <p:nvPr>
            <p:custDataLst>
              <p:tags r:id="rId5"/>
            </p:custDataLst>
          </p:nvPr>
        </p:nvSpPr>
        <p:spPr>
          <a:xfrm>
            <a:off x="3863975" y="5796026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02</a:t>
            </a:r>
            <a:endParaRPr lang="en-US" sz="1050" dirty="0"/>
          </a:p>
        </p:txBody>
      </p:sp>
      <p:sp>
        <p:nvSpPr>
          <p:cNvPr id="32" name="Text 30"/>
          <p:cNvSpPr/>
          <p:nvPr>
            <p:custDataLst>
              <p:tags r:id="rId6"/>
            </p:custDataLst>
          </p:nvPr>
        </p:nvSpPr>
        <p:spPr>
          <a:xfrm>
            <a:off x="4394327" y="5658866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多源扰动如何精准解耦？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Shape 32"/>
          <p:cNvSpPr/>
          <p:nvPr>
            <p:custDataLst>
              <p:tags r:id="rId7"/>
            </p:custDataLst>
          </p:nvPr>
        </p:nvSpPr>
        <p:spPr>
          <a:xfrm>
            <a:off x="6684645" y="5630545"/>
            <a:ext cx="485140" cy="485140"/>
          </a:xfrm>
          <a:prstGeom prst="ellipse">
            <a:avLst/>
          </a:prstGeom>
          <a:solidFill>
            <a:srgbClr val="F29D38"/>
          </a:solidFill>
          <a:ln w="12700">
            <a:solidFill>
              <a:srgbClr val="F29D38"/>
            </a:solidFill>
            <a:prstDash val="solid"/>
          </a:ln>
        </p:spPr>
      </p:sp>
      <p:sp>
        <p:nvSpPr>
          <p:cNvPr id="35" name="Text 33"/>
          <p:cNvSpPr/>
          <p:nvPr>
            <p:custDataLst>
              <p:tags r:id="rId8"/>
            </p:custDataLst>
          </p:nvPr>
        </p:nvSpPr>
        <p:spPr>
          <a:xfrm>
            <a:off x="6716903" y="5796026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03</a:t>
            </a:r>
            <a:endParaRPr lang="en-US" sz="1050" dirty="0"/>
          </a:p>
        </p:txBody>
      </p:sp>
      <p:sp>
        <p:nvSpPr>
          <p:cNvPr id="36" name="Text 34"/>
          <p:cNvSpPr/>
          <p:nvPr>
            <p:custDataLst>
              <p:tags r:id="rId9"/>
            </p:custDataLst>
          </p:nvPr>
        </p:nvSpPr>
        <p:spPr>
          <a:xfrm>
            <a:off x="7247255" y="5658866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图谱、大模型与异常检测如何融合？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Shape 36"/>
          <p:cNvSpPr/>
          <p:nvPr>
            <p:custDataLst>
              <p:tags r:id="rId10"/>
            </p:custDataLst>
          </p:nvPr>
        </p:nvSpPr>
        <p:spPr>
          <a:xfrm>
            <a:off x="9570085" y="5650865"/>
            <a:ext cx="464820" cy="464820"/>
          </a:xfrm>
          <a:prstGeom prst="ellipse">
            <a:avLst/>
          </a:prstGeom>
          <a:solidFill>
            <a:srgbClr val="49B675"/>
          </a:solidFill>
          <a:ln w="12700">
            <a:solidFill>
              <a:srgbClr val="49B675"/>
            </a:solidFill>
            <a:prstDash val="solid"/>
          </a:ln>
        </p:spPr>
      </p:sp>
      <p:sp>
        <p:nvSpPr>
          <p:cNvPr id="39" name="Text 37"/>
          <p:cNvSpPr/>
          <p:nvPr>
            <p:custDataLst>
              <p:tags r:id="rId11"/>
            </p:custDataLst>
          </p:nvPr>
        </p:nvSpPr>
        <p:spPr>
          <a:xfrm>
            <a:off x="9569831" y="5796026"/>
            <a:ext cx="420624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04</a:t>
            </a:r>
            <a:endParaRPr lang="en-US" sz="1050" dirty="0"/>
          </a:p>
        </p:txBody>
      </p:sp>
      <p:sp>
        <p:nvSpPr>
          <p:cNvPr id="40" name="Text 38"/>
          <p:cNvSpPr/>
          <p:nvPr>
            <p:custDataLst>
              <p:tags r:id="rId12"/>
            </p:custDataLst>
          </p:nvPr>
        </p:nvSpPr>
        <p:spPr>
          <a:xfrm>
            <a:off x="10100183" y="5658866"/>
            <a:ext cx="148132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多智能体如何协同输出可信结果？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2805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63" name="矩形 62"/>
          <p:cNvSpPr/>
          <p:nvPr/>
        </p:nvSpPr>
        <p:spPr>
          <a:xfrm>
            <a:off x="891540" y="1770380"/>
            <a:ext cx="5074920" cy="104394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24712" y="1887855"/>
            <a:ext cx="46085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 1</a:t>
            </a:r>
            <a:endParaRPr lang="zh-CN" altLang="en-US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24712" y="2235327"/>
            <a:ext cx="460857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建立电力</a:t>
            </a:r>
            <a:r>
              <a:rPr lang="en-US" altLang="zh-CN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经济动态</a:t>
            </a: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耦合理论框架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891540" y="3125470"/>
            <a:ext cx="5074920" cy="104394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339840" y="3125470"/>
            <a:ext cx="5074920" cy="104394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339840" y="1770380"/>
            <a:ext cx="5074920" cy="104394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19672" y="1887855"/>
            <a:ext cx="46085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 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19545" y="2171700"/>
            <a:ext cx="4425315" cy="5416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构建多源融合的波动解析模型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24712" y="3204591"/>
            <a:ext cx="46085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 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90905" y="3475355"/>
            <a:ext cx="5205095" cy="6940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实现重点行业基础用电量异动监测与智能诊断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19545" y="3125470"/>
            <a:ext cx="4608830" cy="426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 4</a:t>
            </a:r>
            <a:endParaRPr lang="zh-CN" altLang="en-US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519545" y="3620770"/>
            <a:ext cx="4908550" cy="402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研发自动报告生成与智能问答一体化智能体</a:t>
            </a:r>
            <a:endParaRPr lang="zh-CN" altLang="en-US" sz="20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-635" y="-635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-1270" y="-635"/>
            <a:ext cx="12192635" cy="6857365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658495" y="511810"/>
            <a:ext cx="3803015" cy="475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研究方法与技术路线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58368" y="1042416"/>
            <a:ext cx="10835640" cy="0"/>
          </a:xfrm>
          <a:prstGeom prst="line">
            <a:avLst/>
          </a:prstGeom>
          <a:noFill/>
          <a:ln w="12700">
            <a:solidFill>
              <a:srgbClr val="C6D9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9120" y="1279525"/>
            <a:ext cx="2018030" cy="4019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核心路线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6384" y="2660904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多源数据输入</a:t>
            </a:r>
            <a:endParaRPr lang="zh-CN" altLang="en-US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04672" y="3181858"/>
            <a:ext cx="144475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电量、气象、</a:t>
            </a:r>
            <a:endParaRPr lang="zh-CN" altLang="en-US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节假日、经济</a:t>
            </a:r>
            <a:endParaRPr lang="zh-CN" altLang="en-US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980944" y="2660904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特征解耦分析</a:t>
            </a:r>
            <a:endParaRPr lang="en-US" sz="1460" dirty="0"/>
          </a:p>
        </p:txBody>
      </p:sp>
      <p:sp>
        <p:nvSpPr>
          <p:cNvPr id="18" name="Text 16"/>
          <p:cNvSpPr/>
          <p:nvPr/>
        </p:nvSpPr>
        <p:spPr>
          <a:xfrm>
            <a:off x="2967355" y="3255010"/>
            <a:ext cx="1724025" cy="494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剔除常规波动，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识别跨尺度特征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5312664" y="2660904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知识增强诊断</a:t>
            </a:r>
            <a:endParaRPr lang="en-US" sz="1460" dirty="0"/>
          </a:p>
        </p:txBody>
      </p:sp>
      <p:sp>
        <p:nvSpPr>
          <p:cNvPr id="22" name="Text 20"/>
          <p:cNvSpPr/>
          <p:nvPr/>
        </p:nvSpPr>
        <p:spPr>
          <a:xfrm>
            <a:off x="5245735" y="3261360"/>
            <a:ext cx="1761490" cy="494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知识图谱 + LLM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 VAE 检测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90104" y="2660904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多智能体协同</a:t>
            </a:r>
            <a:endParaRPr lang="en-US" sz="1460" dirty="0"/>
          </a:p>
        </p:txBody>
      </p:sp>
      <p:sp>
        <p:nvSpPr>
          <p:cNvPr id="26" name="Text 24"/>
          <p:cNvSpPr/>
          <p:nvPr/>
        </p:nvSpPr>
        <p:spPr>
          <a:xfrm>
            <a:off x="7727442" y="3253613"/>
            <a:ext cx="1481328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 检索增强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 MCP 机制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085832" y="2660904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智能输出</a:t>
            </a:r>
            <a:endParaRPr lang="en-US" sz="1460" dirty="0"/>
          </a:p>
        </p:txBody>
      </p:sp>
      <p:sp>
        <p:nvSpPr>
          <p:cNvPr id="30" name="Text 28"/>
          <p:cNvSpPr/>
          <p:nvPr/>
        </p:nvSpPr>
        <p:spPr>
          <a:xfrm>
            <a:off x="10104755" y="3254883"/>
            <a:ext cx="1170432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报告生成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+ 问答交互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1078992" y="5097399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关联机制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9010" y="5459730"/>
            <a:ext cx="1682750" cy="764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构建行业敏感度分级与弹性指数</a:t>
            </a: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3729990" y="5008880"/>
            <a:ext cx="1582420" cy="378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多模态融合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657600" y="5514340"/>
            <a:ext cx="1866900" cy="709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利用轻量化时序解耦技术去除干扰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65062" y="5098669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异动感知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272530" y="5516245"/>
            <a:ext cx="1895475" cy="708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形成多维感知网络与动态诊断策略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987282" y="5124069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4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智能闭环</a:t>
            </a:r>
            <a:endParaRPr lang="zh-CN" altLang="en-US" sz="24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935085" y="5580380"/>
            <a:ext cx="1682750" cy="847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打通“数据—知识—文本—交互”全流程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9282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grpSp>
        <p:nvGrpSpPr>
          <p:cNvPr id="119" name="组合 118"/>
          <p:cNvGrpSpPr/>
          <p:nvPr>
            <p:custDataLst>
              <p:tags r:id="rId1"/>
            </p:custDataLst>
          </p:nvPr>
        </p:nvGrpSpPr>
        <p:grpSpPr>
          <a:xfrm>
            <a:off x="2358645" y="2756335"/>
            <a:ext cx="7629916" cy="626670"/>
            <a:chOff x="3978331" y="2517048"/>
            <a:chExt cx="7629916" cy="626670"/>
          </a:xfrm>
        </p:grpSpPr>
        <p:sp>
          <p:nvSpPr>
            <p:cNvPr id="117" name="箭头: V 形 116"/>
            <p:cNvSpPr/>
            <p:nvPr>
              <p:custDataLst>
                <p:tags r:id="rId2"/>
              </p:custDataLst>
            </p:nvPr>
          </p:nvSpPr>
          <p:spPr>
            <a:xfrm>
              <a:off x="4092037" y="2517048"/>
              <a:ext cx="278480" cy="62667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118" name="箭头: V 形 117"/>
            <p:cNvSpPr/>
            <p:nvPr>
              <p:custDataLst>
                <p:tags r:id="rId3"/>
              </p:custDataLst>
            </p:nvPr>
          </p:nvSpPr>
          <p:spPr>
            <a:xfrm>
              <a:off x="3978331" y="2650043"/>
              <a:ext cx="163337" cy="36756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46" name="箭头: V 形 116"/>
            <p:cNvSpPr/>
            <p:nvPr>
              <p:custDataLst>
                <p:tags r:id="rId4"/>
              </p:custDataLst>
            </p:nvPr>
          </p:nvSpPr>
          <p:spPr>
            <a:xfrm>
              <a:off x="6459952" y="2517048"/>
              <a:ext cx="278480" cy="62667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47" name="箭头: V 形 117"/>
            <p:cNvSpPr/>
            <p:nvPr>
              <p:custDataLst>
                <p:tags r:id="rId5"/>
              </p:custDataLst>
            </p:nvPr>
          </p:nvSpPr>
          <p:spPr>
            <a:xfrm>
              <a:off x="6360216" y="2647503"/>
              <a:ext cx="163337" cy="36756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48" name="箭头: V 形 117"/>
            <p:cNvSpPr/>
            <p:nvPr>
              <p:custDataLst>
                <p:tags r:id="rId6"/>
              </p:custDataLst>
            </p:nvPr>
          </p:nvSpPr>
          <p:spPr>
            <a:xfrm>
              <a:off x="8644946" y="2647503"/>
              <a:ext cx="163337" cy="36756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49" name="箭头: V 形 116"/>
            <p:cNvSpPr/>
            <p:nvPr>
              <p:custDataLst>
                <p:tags r:id="rId7"/>
              </p:custDataLst>
            </p:nvPr>
          </p:nvSpPr>
          <p:spPr>
            <a:xfrm>
              <a:off x="8754842" y="2517048"/>
              <a:ext cx="278480" cy="62667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50" name="箭头: V 形 116"/>
            <p:cNvSpPr/>
            <p:nvPr>
              <p:custDataLst>
                <p:tags r:id="rId8"/>
              </p:custDataLst>
            </p:nvPr>
          </p:nvSpPr>
          <p:spPr>
            <a:xfrm>
              <a:off x="11329767" y="2517048"/>
              <a:ext cx="278480" cy="62667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  <p:sp>
          <p:nvSpPr>
            <p:cNvPr id="51" name="箭头: V 形 117"/>
            <p:cNvSpPr/>
            <p:nvPr>
              <p:custDataLst>
                <p:tags r:id="rId9"/>
              </p:custDataLst>
            </p:nvPr>
          </p:nvSpPr>
          <p:spPr>
            <a:xfrm>
              <a:off x="11210981" y="2660203"/>
              <a:ext cx="163337" cy="367560"/>
            </a:xfrm>
            <a:prstGeom prst="chevron">
              <a:avLst/>
            </a:prstGeom>
            <a:gradFill flip="none" rotWithShape="1">
              <a:gsLst>
                <a:gs pos="50900">
                  <a:srgbClr val="0070C0">
                    <a:alpha val="0"/>
                  </a:srgbClr>
                </a:gs>
                <a:gs pos="0">
                  <a:srgbClr val="0070C0">
                    <a:alpha val="60000"/>
                  </a:srgbClr>
                </a:gs>
                <a:gs pos="100000">
                  <a:srgbClr val="0070C0">
                    <a:alpha val="40000"/>
                  </a:srgbClr>
                </a:gs>
              </a:gsLst>
              <a:lin ang="13500000" scaled="1"/>
              <a:tileRect/>
            </a:gradFill>
            <a:ln w="7620" cap="flat" cmpd="sng" algn="ctr">
              <a:solidFill>
                <a:srgbClr val="00B0F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/>
              <a:endParaRPr lang="zh-CN" altLang="en-US" b="1" dirty="0">
                <a:gradFill flip="none" rotWithShape="1">
                  <a:gsLst>
                    <a:gs pos="39000">
                      <a:schemeClr val="bg1"/>
                    </a:gs>
                    <a:gs pos="100000">
                      <a:schemeClr val="accent5">
                        <a:lumMod val="44000"/>
                        <a:lumOff val="56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思源黑体" panose="020B0500000000000000" pitchFamily="34" charset="-122"/>
                <a:ea typeface="思源黑体" panose="020B0500000000000000" pitchFamily="34" charset="-122"/>
                <a:cs typeface="演示创黑FLY Heavy" panose="02000600000000000000" pitchFamily="2" charset="-122"/>
              </a:endParaRPr>
            </a:p>
          </p:txBody>
        </p:sp>
      </p:grpSp>
      <p:sp>
        <p:nvSpPr>
          <p:cNvPr id="52" name="Text 4"/>
          <p:cNvSpPr/>
          <p:nvPr/>
        </p:nvSpPr>
        <p:spPr>
          <a:xfrm>
            <a:off x="579120" y="4257675"/>
            <a:ext cx="2018030" cy="4019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</a:t>
            </a: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方法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-635" y="-635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-1270" y="-635"/>
            <a:ext cx="12192635" cy="6857365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2" name="Text 0"/>
          <p:cNvSpPr/>
          <p:nvPr/>
        </p:nvSpPr>
        <p:spPr>
          <a:xfrm>
            <a:off x="658495" y="511810"/>
            <a:ext cx="4181475" cy="475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创新点与预期成果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58368" y="1042416"/>
            <a:ext cx="10835640" cy="0"/>
          </a:xfrm>
          <a:prstGeom prst="line">
            <a:avLst/>
          </a:prstGeom>
          <a:noFill/>
          <a:ln w="12700">
            <a:solidFill>
              <a:srgbClr val="C6D9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80944" y="2660904"/>
            <a:ext cx="148132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60" dirty="0"/>
          </a:p>
        </p:txBody>
      </p:sp>
      <p:sp>
        <p:nvSpPr>
          <p:cNvPr id="18" name="Text 16"/>
          <p:cNvSpPr/>
          <p:nvPr/>
        </p:nvSpPr>
        <p:spPr>
          <a:xfrm>
            <a:off x="2967355" y="3255010"/>
            <a:ext cx="1724025" cy="494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5312664" y="2660904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60" dirty="0"/>
          </a:p>
        </p:txBody>
      </p:sp>
      <p:sp>
        <p:nvSpPr>
          <p:cNvPr id="22" name="Text 20"/>
          <p:cNvSpPr/>
          <p:nvPr/>
        </p:nvSpPr>
        <p:spPr>
          <a:xfrm>
            <a:off x="5245735" y="3261360"/>
            <a:ext cx="1761490" cy="4940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690104" y="2660904"/>
            <a:ext cx="151790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60" dirty="0"/>
          </a:p>
        </p:txBody>
      </p:sp>
      <p:sp>
        <p:nvSpPr>
          <p:cNvPr id="26" name="Text 24"/>
          <p:cNvSpPr/>
          <p:nvPr/>
        </p:nvSpPr>
        <p:spPr>
          <a:xfrm>
            <a:off x="7727442" y="3253613"/>
            <a:ext cx="1481328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085832" y="2660904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60" dirty="0"/>
          </a:p>
        </p:txBody>
      </p:sp>
      <p:sp>
        <p:nvSpPr>
          <p:cNvPr id="32" name="Text 30"/>
          <p:cNvSpPr/>
          <p:nvPr/>
        </p:nvSpPr>
        <p:spPr>
          <a:xfrm>
            <a:off x="1078992" y="5097399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69010" y="5459730"/>
            <a:ext cx="1682750" cy="764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30" dirty="0"/>
          </a:p>
        </p:txBody>
      </p:sp>
      <p:sp>
        <p:nvSpPr>
          <p:cNvPr id="35" name="Text 33"/>
          <p:cNvSpPr/>
          <p:nvPr/>
        </p:nvSpPr>
        <p:spPr>
          <a:xfrm>
            <a:off x="3729990" y="5008880"/>
            <a:ext cx="1582420" cy="378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657600" y="5514340"/>
            <a:ext cx="1866900" cy="7099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65062" y="5098669"/>
            <a:ext cx="1463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272530" y="5516245"/>
            <a:ext cx="1895475" cy="7080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935085" y="5580380"/>
            <a:ext cx="1682750" cy="847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9282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52" name="Text 4"/>
          <p:cNvSpPr/>
          <p:nvPr/>
        </p:nvSpPr>
        <p:spPr>
          <a:xfrm>
            <a:off x="579120" y="4257675"/>
            <a:ext cx="2018030" cy="4019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矩形 62"/>
          <p:cNvSpPr/>
          <p:nvPr>
            <p:custDataLst>
              <p:tags r:id="rId1"/>
            </p:custDataLst>
          </p:nvPr>
        </p:nvSpPr>
        <p:spPr>
          <a:xfrm>
            <a:off x="969010" y="1887220"/>
            <a:ext cx="4753610" cy="1072515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4" name="Text 4"/>
          <p:cNvSpPr/>
          <p:nvPr/>
        </p:nvSpPr>
        <p:spPr>
          <a:xfrm>
            <a:off x="802005" y="1393825"/>
            <a:ext cx="157289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三点创新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1078865" y="2370455"/>
            <a:ext cx="4053840" cy="553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l">
              <a:buClrTx/>
              <a:buSzTx/>
              <a:buFontTx/>
              <a:buNone/>
            </a:pP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把轻量化时序解耦与跨尺度特征分析结合，提升电量波动解析的颗粒度。</a:t>
            </a: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579120" y="1877060"/>
            <a:ext cx="44723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ctr">
              <a:buClrTx/>
              <a:buSzTx/>
              <a:buFontTx/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 1：多模态与跨尺度解耦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969010" y="3275330"/>
            <a:ext cx="4784725" cy="1059815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969010" y="4660265"/>
            <a:ext cx="4783455" cy="1050290"/>
          </a:xfrm>
          <a:prstGeom prst="rect">
            <a:avLst/>
          </a:prstGeom>
          <a:solidFill>
            <a:schemeClr val="bg1">
              <a:lumMod val="95000"/>
              <a:alpha val="20000"/>
            </a:schemeClr>
          </a:soli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658495" y="3275330"/>
            <a:ext cx="50653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ctr">
              <a:buClrTx/>
              <a:buSzTx/>
              <a:buFontTx/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 2：知识图谱 + 大模型 + VAE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1078865" y="3734435"/>
            <a:ext cx="406400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由“单一数据驱动”转向“知识驱动 + 推理增强 + 异常检测”的融合范式。</a:t>
            </a: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8"/>
            </p:custDataLst>
          </p:nvPr>
        </p:nvSpPr>
        <p:spPr>
          <a:xfrm>
            <a:off x="658495" y="4662805"/>
            <a:ext cx="477583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创新 3：面向应用的多智能体闭环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2000"/>
          </a:p>
        </p:txBody>
      </p:sp>
      <p:sp>
        <p:nvSpPr>
          <p:cNvPr id="19" name="文本框 18"/>
          <p:cNvSpPr txBox="1"/>
          <p:nvPr>
            <p:custDataLst>
              <p:tags r:id="rId9"/>
            </p:custDataLst>
          </p:nvPr>
        </p:nvSpPr>
        <p:spPr>
          <a:xfrm>
            <a:off x="1078865" y="5098415"/>
            <a:ext cx="406400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15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以 MCP 协同框架打通底层处理、异常监测、报告生成与决策问答。</a:t>
            </a: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21705" y="1322705"/>
            <a:ext cx="4064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预期成果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3" name="Shape 19"/>
          <p:cNvSpPr/>
          <p:nvPr/>
        </p:nvSpPr>
        <p:spPr>
          <a:xfrm>
            <a:off x="6096000" y="1912620"/>
            <a:ext cx="5708650" cy="3667125"/>
          </a:xfrm>
          <a:prstGeom prst="roundRect">
            <a:avLst>
              <a:gd name="adj" fmla="val 2618"/>
            </a:avLst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24" name="Shape 20"/>
          <p:cNvSpPr/>
          <p:nvPr>
            <p:custDataLst>
              <p:tags r:id="rId10"/>
            </p:custDataLst>
          </p:nvPr>
        </p:nvSpPr>
        <p:spPr>
          <a:xfrm>
            <a:off x="6514211" y="2171827"/>
            <a:ext cx="1115568" cy="950976"/>
          </a:xfrm>
          <a:prstGeom prst="roundRect">
            <a:avLst>
              <a:gd name="adj" fmla="val 8654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p>
            <a:pPr marL="0" indent="0" algn="ctr"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6601460" y="2572385"/>
            <a:ext cx="12160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技术报告</a:t>
            </a:r>
            <a:endParaRPr lang="en-US" sz="1600" dirty="0"/>
          </a:p>
          <a:p>
            <a:endParaRPr lang="zh-CN" altLang="en-US" sz="1600"/>
          </a:p>
        </p:txBody>
      </p:sp>
      <p:sp>
        <p:nvSpPr>
          <p:cNvPr id="28" name="Shape 23"/>
          <p:cNvSpPr/>
          <p:nvPr>
            <p:custDataLst>
              <p:tags r:id="rId12"/>
            </p:custDataLst>
          </p:nvPr>
        </p:nvSpPr>
        <p:spPr>
          <a:xfrm>
            <a:off x="7900162" y="2171827"/>
            <a:ext cx="1115568" cy="950976"/>
          </a:xfrm>
          <a:prstGeom prst="roundRect">
            <a:avLst>
              <a:gd name="adj" fmla="val 8654"/>
            </a:avLst>
          </a:prstGeom>
          <a:solidFill>
            <a:srgbClr val="25B59A"/>
          </a:solidFill>
          <a:ln w="12700">
            <a:solidFill>
              <a:srgbClr val="25B59A"/>
            </a:solidFill>
            <a:prstDash val="solid"/>
          </a:ln>
        </p:spPr>
        <p:txBody>
          <a:bodyPr/>
          <a:p>
            <a:pPr marL="0" indent="0" algn="ctr"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endParaRPr lang="zh-CN" altLang="en-US"/>
          </a:p>
        </p:txBody>
      </p:sp>
      <p:sp>
        <p:nvSpPr>
          <p:cNvPr id="31" name="Shape 26"/>
          <p:cNvSpPr/>
          <p:nvPr>
            <p:custDataLst>
              <p:tags r:id="rId13"/>
            </p:custDataLst>
          </p:nvPr>
        </p:nvSpPr>
        <p:spPr>
          <a:xfrm>
            <a:off x="9268333" y="2171827"/>
            <a:ext cx="1115568" cy="950976"/>
          </a:xfrm>
          <a:prstGeom prst="roundRect">
            <a:avLst>
              <a:gd name="adj" fmla="val 8654"/>
            </a:avLst>
          </a:prstGeom>
          <a:solidFill>
            <a:srgbClr val="F29D38"/>
          </a:solidFill>
          <a:ln w="12700">
            <a:solidFill>
              <a:srgbClr val="F29D38"/>
            </a:solidFill>
            <a:prstDash val="solid"/>
          </a:ln>
        </p:spPr>
        <p:txBody>
          <a:bodyPr/>
          <a:p>
            <a:pPr marL="0" indent="0" algn="ctr"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</a:t>
            </a:r>
            <a:endParaRPr lang="en-US" altLang="zh-CN"/>
          </a:p>
        </p:txBody>
      </p:sp>
      <p:sp>
        <p:nvSpPr>
          <p:cNvPr id="34" name="Shape 29"/>
          <p:cNvSpPr/>
          <p:nvPr>
            <p:custDataLst>
              <p:tags r:id="rId14"/>
            </p:custDataLst>
          </p:nvPr>
        </p:nvSpPr>
        <p:spPr>
          <a:xfrm>
            <a:off x="10616184" y="2171827"/>
            <a:ext cx="1115568" cy="950976"/>
          </a:xfrm>
          <a:prstGeom prst="roundRect">
            <a:avLst>
              <a:gd name="adj" fmla="val 8654"/>
            </a:avLst>
          </a:prstGeom>
          <a:solidFill>
            <a:srgbClr val="49B675"/>
          </a:solidFill>
          <a:ln w="12700">
            <a:solidFill>
              <a:srgbClr val="49B675"/>
            </a:solidFill>
            <a:prstDash val="solid"/>
          </a:ln>
        </p:spPr>
        <p:txBody>
          <a:bodyPr/>
          <a:p>
            <a:pPr marL="0" indent="0" algn="ctr"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15"/>
            </p:custDataLst>
          </p:nvPr>
        </p:nvSpPr>
        <p:spPr>
          <a:xfrm>
            <a:off x="7960995" y="2572385"/>
            <a:ext cx="11639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软件原型</a:t>
            </a:r>
            <a:endParaRPr lang="en-US" sz="1600" dirty="0"/>
          </a:p>
          <a:p>
            <a:endParaRPr lang="zh-CN" altLang="en-US" sz="1600"/>
          </a:p>
        </p:txBody>
      </p:sp>
      <p:sp>
        <p:nvSpPr>
          <p:cNvPr id="40" name="文本框 39"/>
          <p:cNvSpPr txBox="1"/>
          <p:nvPr>
            <p:custDataLst>
              <p:tags r:id="rId16"/>
            </p:custDataLst>
          </p:nvPr>
        </p:nvSpPr>
        <p:spPr>
          <a:xfrm>
            <a:off x="9333865" y="2572385"/>
            <a:ext cx="128397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发明专利</a:t>
            </a:r>
            <a:endParaRPr lang="en-US" sz="1600" dirty="0"/>
          </a:p>
          <a:p>
            <a:endParaRPr lang="zh-CN" altLang="en-US" sz="1600"/>
          </a:p>
        </p:txBody>
      </p:sp>
      <p:sp>
        <p:nvSpPr>
          <p:cNvPr id="53" name="文本框 52"/>
          <p:cNvSpPr txBox="1"/>
          <p:nvPr>
            <p:custDataLst>
              <p:tags r:id="rId17"/>
            </p:custDataLst>
          </p:nvPr>
        </p:nvSpPr>
        <p:spPr>
          <a:xfrm>
            <a:off x="10560685" y="2572385"/>
            <a:ext cx="1412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软件著作权</a:t>
            </a:r>
            <a:endParaRPr lang="en-US" sz="1600" dirty="0"/>
          </a:p>
          <a:p>
            <a:endParaRPr lang="zh-CN" altLang="en-US" sz="1600"/>
          </a:p>
        </p:txBody>
      </p:sp>
      <p:sp>
        <p:nvSpPr>
          <p:cNvPr id="54" name="文本框 53"/>
          <p:cNvSpPr txBox="1"/>
          <p:nvPr/>
        </p:nvSpPr>
        <p:spPr>
          <a:xfrm>
            <a:off x="6514465" y="3386455"/>
            <a:ext cx="4937125" cy="1131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形成《基于特征解耦与知识增强技术的电力看经济大模型智能体研究》综合技术报告。</a:t>
            </a:r>
            <a:endParaRPr lang="zh-CN" altLang="en-US" sz="16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l"/>
            </a:pPr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提交面向电力经济关系智能体的软件原型，覆盖图谱、特征解析、问答和报告生成模块</a:t>
            </a:r>
            <a:r>
              <a:rPr lang="zh-CN" altLang="en-US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buClrTx/>
              <a:buSzTx/>
              <a:buFontTx/>
            </a:pPr>
            <a:endParaRPr lang="zh-CN" altLang="en-US" sz="15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6464935" y="5097145"/>
            <a:ext cx="5266055" cy="39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强调“理论创新 + 系统原型 + 知识产权”三位一体输出</a:t>
            </a:r>
            <a:endParaRPr lang="zh-CN" altLang="en-US" sz="16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658495" y="511810"/>
            <a:ext cx="3803015" cy="475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实施计划与研究</a:t>
            </a: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基础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58368" y="1042416"/>
            <a:ext cx="10835640" cy="0"/>
          </a:xfrm>
          <a:prstGeom prst="line">
            <a:avLst/>
          </a:prstGeom>
          <a:noFill/>
          <a:ln w="12700">
            <a:solidFill>
              <a:srgbClr val="C6D9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9120" y="1279525"/>
            <a:ext cx="2018030" cy="4019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进度安排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9282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sp>
        <p:nvSpPr>
          <p:cNvPr id="52" name="Text 4"/>
          <p:cNvSpPr/>
          <p:nvPr/>
        </p:nvSpPr>
        <p:spPr>
          <a:xfrm>
            <a:off x="579120" y="4257675"/>
            <a:ext cx="2018030" cy="4019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可行性</a:t>
            </a:r>
            <a:r>
              <a:rPr lang="zh-CN" altLang="en-US" sz="28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基础</a:t>
            </a:r>
            <a:endParaRPr lang="zh-CN" altLang="en-US" sz="28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Shape 5"/>
          <p:cNvSpPr/>
          <p:nvPr/>
        </p:nvSpPr>
        <p:spPr>
          <a:xfrm>
            <a:off x="1143000" y="2862707"/>
            <a:ext cx="9875520" cy="0"/>
          </a:xfrm>
          <a:prstGeom prst="line">
            <a:avLst/>
          </a:prstGeom>
          <a:noFill/>
          <a:ln w="12700">
            <a:solidFill>
              <a:srgbClr val="A8CDEC"/>
            </a:solidFill>
            <a:prstDash val="solid"/>
            <a:headEnd type="none"/>
            <a:tailEnd type="triangle"/>
          </a:ln>
        </p:spPr>
      </p:sp>
      <p:sp>
        <p:nvSpPr>
          <p:cNvPr id="37" name="Shape 6"/>
          <p:cNvSpPr/>
          <p:nvPr/>
        </p:nvSpPr>
        <p:spPr>
          <a:xfrm>
            <a:off x="1682242" y="2643251"/>
            <a:ext cx="457200" cy="45720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40" name="Shape 7"/>
          <p:cNvSpPr/>
          <p:nvPr/>
        </p:nvSpPr>
        <p:spPr>
          <a:xfrm>
            <a:off x="914400" y="1930019"/>
            <a:ext cx="1993392" cy="475488"/>
          </a:xfrm>
          <a:prstGeom prst="roundRect">
            <a:avLst>
              <a:gd name="adj" fmla="val 11538"/>
            </a:avLst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53" name="Text 8"/>
          <p:cNvSpPr/>
          <p:nvPr/>
        </p:nvSpPr>
        <p:spPr>
          <a:xfrm>
            <a:off x="914400" y="2058035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2026.03—05</a:t>
            </a:r>
            <a:endParaRPr lang="en-US" sz="1320" dirty="0"/>
          </a:p>
        </p:txBody>
      </p:sp>
      <p:sp>
        <p:nvSpPr>
          <p:cNvPr id="54" name="Text 9"/>
          <p:cNvSpPr/>
          <p:nvPr/>
        </p:nvSpPr>
        <p:spPr>
          <a:xfrm>
            <a:off x="868680" y="3223895"/>
            <a:ext cx="2084705" cy="7912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需求调研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文献收集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总体方案设计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5" name="Shape 10"/>
          <p:cNvSpPr/>
          <p:nvPr/>
        </p:nvSpPr>
        <p:spPr>
          <a:xfrm>
            <a:off x="4297172" y="2643251"/>
            <a:ext cx="457200" cy="457200"/>
          </a:xfrm>
          <a:prstGeom prst="ellipse">
            <a:avLst/>
          </a:prstGeom>
          <a:solidFill>
            <a:srgbClr val="25B59A"/>
          </a:solidFill>
          <a:ln w="12700">
            <a:solidFill>
              <a:srgbClr val="25B59A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6" name="Shape 11"/>
          <p:cNvSpPr/>
          <p:nvPr/>
        </p:nvSpPr>
        <p:spPr>
          <a:xfrm>
            <a:off x="3657600" y="1930019"/>
            <a:ext cx="1993392" cy="475488"/>
          </a:xfrm>
          <a:prstGeom prst="roundRect">
            <a:avLst>
              <a:gd name="adj" fmla="val 11538"/>
            </a:avLst>
          </a:prstGeom>
          <a:solidFill>
            <a:srgbClr val="25B59A"/>
          </a:solidFill>
          <a:ln w="12700">
            <a:solidFill>
              <a:srgbClr val="25B59A"/>
            </a:solidFill>
            <a:prstDash val="solid"/>
          </a:ln>
        </p:spPr>
      </p:sp>
      <p:sp>
        <p:nvSpPr>
          <p:cNvPr id="57" name="Text 12"/>
          <p:cNvSpPr/>
          <p:nvPr/>
        </p:nvSpPr>
        <p:spPr>
          <a:xfrm>
            <a:off x="3657600" y="2058035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2026.06—09</a:t>
            </a:r>
            <a:endParaRPr lang="en-US" sz="1320" dirty="0"/>
          </a:p>
        </p:txBody>
      </p:sp>
      <p:sp>
        <p:nvSpPr>
          <p:cNvPr id="59" name="Shape 14"/>
          <p:cNvSpPr/>
          <p:nvPr/>
        </p:nvSpPr>
        <p:spPr>
          <a:xfrm>
            <a:off x="7121017" y="2643251"/>
            <a:ext cx="457200" cy="457200"/>
          </a:xfrm>
          <a:prstGeom prst="ellipse">
            <a:avLst/>
          </a:prstGeom>
          <a:solidFill>
            <a:srgbClr val="F29D38"/>
          </a:solidFill>
          <a:ln w="12700">
            <a:solidFill>
              <a:srgbClr val="F29D38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60" name="Shape 15"/>
          <p:cNvSpPr/>
          <p:nvPr/>
        </p:nvSpPr>
        <p:spPr>
          <a:xfrm>
            <a:off x="6400800" y="1930019"/>
            <a:ext cx="1993392" cy="475488"/>
          </a:xfrm>
          <a:prstGeom prst="roundRect">
            <a:avLst>
              <a:gd name="adj" fmla="val 11538"/>
            </a:avLst>
          </a:prstGeom>
          <a:solidFill>
            <a:srgbClr val="F29D38"/>
          </a:solidFill>
          <a:ln w="12700">
            <a:solidFill>
              <a:srgbClr val="F29D38"/>
            </a:solidFill>
            <a:prstDash val="solid"/>
          </a:ln>
        </p:spPr>
      </p:sp>
      <p:sp>
        <p:nvSpPr>
          <p:cNvPr id="61" name="Text 16"/>
          <p:cNvSpPr/>
          <p:nvPr/>
        </p:nvSpPr>
        <p:spPr>
          <a:xfrm>
            <a:off x="6400800" y="2058035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2026.10—12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Shape 18"/>
          <p:cNvSpPr/>
          <p:nvPr/>
        </p:nvSpPr>
        <p:spPr>
          <a:xfrm>
            <a:off x="9814687" y="2643251"/>
            <a:ext cx="457200" cy="457200"/>
          </a:xfrm>
          <a:prstGeom prst="ellipse">
            <a:avLst/>
          </a:prstGeom>
          <a:solidFill>
            <a:srgbClr val="49B675"/>
          </a:solidFill>
          <a:ln w="12700">
            <a:solidFill>
              <a:srgbClr val="49B675"/>
            </a:solidFill>
            <a:prstDash val="solid"/>
          </a:ln>
        </p:spPr>
      </p:sp>
      <p:sp>
        <p:nvSpPr>
          <p:cNvPr id="64" name="Shape 19"/>
          <p:cNvSpPr/>
          <p:nvPr/>
        </p:nvSpPr>
        <p:spPr>
          <a:xfrm>
            <a:off x="9144000" y="1930019"/>
            <a:ext cx="1993392" cy="475488"/>
          </a:xfrm>
          <a:prstGeom prst="roundRect">
            <a:avLst>
              <a:gd name="adj" fmla="val 11538"/>
            </a:avLst>
          </a:prstGeom>
          <a:solidFill>
            <a:srgbClr val="49B675"/>
          </a:solidFill>
          <a:ln w="12700">
            <a:solidFill>
              <a:srgbClr val="49B675"/>
            </a:solidFill>
            <a:prstDash val="solid"/>
          </a:ln>
        </p:spPr>
      </p:sp>
      <p:sp>
        <p:nvSpPr>
          <p:cNvPr id="65" name="Text 20"/>
          <p:cNvSpPr/>
          <p:nvPr/>
        </p:nvSpPr>
        <p:spPr>
          <a:xfrm>
            <a:off x="9144000" y="2058035"/>
            <a:ext cx="1993392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2027.01—05</a:t>
            </a:r>
            <a:endParaRPr lang="en-US" sz="1320" dirty="0"/>
          </a:p>
        </p:txBody>
      </p:sp>
      <p:sp>
        <p:nvSpPr>
          <p:cNvPr id="67" name="Text 9"/>
          <p:cNvSpPr/>
          <p:nvPr/>
        </p:nvSpPr>
        <p:spPr>
          <a:xfrm>
            <a:off x="3255010" y="3347720"/>
            <a:ext cx="2541905" cy="8343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电力</a:t>
            </a:r>
            <a:r>
              <a:rPr lang="en-US" altLang="zh-CN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经济关联机制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研究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多源波动解析模型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8" name="Text 9"/>
          <p:cNvSpPr/>
          <p:nvPr/>
        </p:nvSpPr>
        <p:spPr>
          <a:xfrm>
            <a:off x="6129655" y="3259455"/>
            <a:ext cx="253873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知识图谱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异常检测与问答模型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开发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9" name="Text 9"/>
          <p:cNvSpPr/>
          <p:nvPr/>
        </p:nvSpPr>
        <p:spPr>
          <a:xfrm>
            <a:off x="9001125" y="3367151"/>
            <a:ext cx="208483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综合技术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报告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原型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完善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ctr">
              <a:buClrTx/>
              <a:buSzTx/>
              <a:buFontTx/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专利与软著</a:t>
            </a: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申请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3" name="Shape 24"/>
          <p:cNvSpPr/>
          <p:nvPr/>
        </p:nvSpPr>
        <p:spPr>
          <a:xfrm>
            <a:off x="868045" y="5029073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rgbClr val="C6D9E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74" name="Shape 25"/>
          <p:cNvSpPr/>
          <p:nvPr/>
        </p:nvSpPr>
        <p:spPr>
          <a:xfrm>
            <a:off x="868045" y="5029073"/>
            <a:ext cx="109728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5" name="Text 26"/>
          <p:cNvSpPr/>
          <p:nvPr/>
        </p:nvSpPr>
        <p:spPr>
          <a:xfrm>
            <a:off x="1059942" y="5089652"/>
            <a:ext cx="27249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团队基础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6" name="Text 27"/>
          <p:cNvSpPr/>
          <p:nvPr/>
        </p:nvSpPr>
        <p:spPr>
          <a:xfrm>
            <a:off x="1059942" y="5507609"/>
            <a:ext cx="27249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团队具有自动控制、信号处理与 AI 模型编程基础。</a:t>
            </a:r>
            <a:endParaRPr lang="en-US" sz="1440" dirty="0"/>
          </a:p>
        </p:txBody>
      </p:sp>
      <p:sp>
        <p:nvSpPr>
          <p:cNvPr id="77" name="Shape 28"/>
          <p:cNvSpPr/>
          <p:nvPr/>
        </p:nvSpPr>
        <p:spPr>
          <a:xfrm>
            <a:off x="4364609" y="5029073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rgbClr val="C6D9E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78" name="Shape 29"/>
          <p:cNvSpPr/>
          <p:nvPr/>
        </p:nvSpPr>
        <p:spPr>
          <a:xfrm>
            <a:off x="4365244" y="5029073"/>
            <a:ext cx="109728" cy="914400"/>
          </a:xfrm>
          <a:prstGeom prst="rect">
            <a:avLst/>
          </a:prstGeom>
          <a:solidFill>
            <a:srgbClr val="25B59A"/>
          </a:solidFill>
          <a:ln w="12700">
            <a:solidFill>
              <a:srgbClr val="25B59A"/>
            </a:solidFill>
            <a:prstDash val="solid"/>
          </a:ln>
        </p:spPr>
      </p:sp>
      <p:sp>
        <p:nvSpPr>
          <p:cNvPr id="79" name="Text 30"/>
          <p:cNvSpPr/>
          <p:nvPr/>
        </p:nvSpPr>
        <p:spPr>
          <a:xfrm>
            <a:off x="4556506" y="5061077"/>
            <a:ext cx="27249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条件保障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0" name="Text 31"/>
          <p:cNvSpPr/>
          <p:nvPr/>
        </p:nvSpPr>
        <p:spPr>
          <a:xfrm>
            <a:off x="4556506" y="5507609"/>
            <a:ext cx="27249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具备高性能计算机，并可利用学校实验室资源。</a:t>
            </a:r>
            <a:endParaRPr lang="en-US" sz="1440" dirty="0"/>
          </a:p>
        </p:txBody>
      </p:sp>
      <p:sp>
        <p:nvSpPr>
          <p:cNvPr id="81" name="Shape 32"/>
          <p:cNvSpPr/>
          <p:nvPr/>
        </p:nvSpPr>
        <p:spPr>
          <a:xfrm>
            <a:off x="7860538" y="5029073"/>
            <a:ext cx="3108960" cy="914400"/>
          </a:xfrm>
          <a:prstGeom prst="roundRect">
            <a:avLst>
              <a:gd name="adj" fmla="val 8000"/>
            </a:avLst>
          </a:prstGeom>
          <a:solidFill>
            <a:schemeClr val="tx1"/>
          </a:solidFill>
          <a:ln w="12700">
            <a:solidFill>
              <a:srgbClr val="C6D9EE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2" name="Shape 33"/>
          <p:cNvSpPr/>
          <p:nvPr/>
        </p:nvSpPr>
        <p:spPr>
          <a:xfrm>
            <a:off x="7861935" y="5027930"/>
            <a:ext cx="76200" cy="914400"/>
          </a:xfrm>
          <a:prstGeom prst="rect">
            <a:avLst/>
          </a:prstGeom>
          <a:solidFill>
            <a:srgbClr val="F29D38"/>
          </a:solidFill>
          <a:ln w="12700">
            <a:solidFill>
              <a:srgbClr val="F29D38"/>
            </a:solidFill>
            <a:prstDash val="solid"/>
          </a:ln>
        </p:spPr>
      </p:sp>
      <p:sp>
        <p:nvSpPr>
          <p:cNvPr id="83" name="Text 34"/>
          <p:cNvSpPr/>
          <p:nvPr/>
        </p:nvSpPr>
        <p:spPr>
          <a:xfrm>
            <a:off x="8053070" y="5061077"/>
            <a:ext cx="272491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l">
              <a:buClrTx/>
              <a:buSzTx/>
              <a:buFontTx/>
              <a:buNone/>
            </a:pPr>
            <a:r>
              <a:rPr lang="zh-CN" altLang="en-US" sz="2000" b="1" noProof="0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数据来源</a:t>
            </a:r>
            <a:endParaRPr lang="zh-CN" altLang="en-US" sz="2000" b="1" noProof="0" dirty="0">
              <a:ln>
                <a:noFill/>
              </a:ln>
              <a:gradFill>
                <a:gsLst>
                  <a:gs pos="0">
                    <a:srgbClr val="F2BA02">
                      <a:lumMod val="20000"/>
                      <a:lumOff val="80000"/>
                    </a:srgbClr>
                  </a:gs>
                  <a:gs pos="100000">
                    <a:srgbClr val="FFC000"/>
                  </a:gs>
                </a:gsLst>
                <a:lin ang="5400000" scaled="1"/>
              </a:gradFill>
              <a:effectLst>
                <a:outerShdw blurRad="50800" dist="38100" dir="2700000" algn="tl" rotWithShape="0">
                  <a:prstClr val="black">
                    <a:alpha val="49000"/>
                  </a:prst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4" name="Text 35"/>
          <p:cNvSpPr/>
          <p:nvPr/>
        </p:nvSpPr>
        <p:spPr>
          <a:xfrm>
            <a:off x="8053070" y="5507355"/>
            <a:ext cx="288798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宏观经济与总用电量数据获取公开、透明、成本可控。</a:t>
            </a:r>
            <a:endParaRPr lang="zh-CN" altLang="en-US" sz="18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/>
          <p:cNvSpPr/>
          <p:nvPr/>
        </p:nvSpPr>
        <p:spPr>
          <a:xfrm>
            <a:off x="13970" y="12700"/>
            <a:ext cx="12179300" cy="684466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0900">
                <a:srgbClr val="0070C0">
                  <a:alpha val="0"/>
                </a:srgbClr>
              </a:gs>
              <a:gs pos="0">
                <a:srgbClr val="0070C0">
                  <a:alpha val="0"/>
                </a:srgbClr>
              </a:gs>
              <a:gs pos="100000">
                <a:srgbClr val="0070C0">
                  <a:alpha val="40000"/>
                </a:srgbClr>
              </a:gs>
            </a:gsLst>
            <a:lin ang="2700000" scaled="0"/>
            <a:tileRect/>
          </a:gradFill>
          <a:ln w="7620" cap="flat" cmpd="sng" algn="ctr">
            <a:noFill/>
            <a:prstDash val="solid"/>
            <a:miter lim="800000"/>
          </a:ln>
        </p:spPr>
        <p:txBody>
          <a:bodyPr rtlCol="0" anchor="ctr"/>
          <a:lstStyle/>
          <a:p>
            <a:pPr algn="ctr"/>
            <a:endParaRPr lang="zh-CN" altLang="en-US" b="1" dirty="0">
              <a:gradFill flip="none" rotWithShape="1">
                <a:gsLst>
                  <a:gs pos="39000">
                    <a:schemeClr val="bg1"/>
                  </a:gs>
                  <a:gs pos="100000">
                    <a:schemeClr val="accent5">
                      <a:lumMod val="44000"/>
                      <a:lumOff val="56000"/>
                    </a:scheme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思源黑体" panose="020B0500000000000000" pitchFamily="34" charset="-122"/>
              <a:ea typeface="思源黑体" panose="020B0500000000000000" pitchFamily="34" charset="-122"/>
              <a:cs typeface="演示创黑FLY Heavy" panose="02000600000000000000" pitchFamily="2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58368" y="1042416"/>
            <a:ext cx="10835640" cy="0"/>
          </a:xfrm>
          <a:prstGeom prst="line">
            <a:avLst/>
          </a:prstGeom>
          <a:noFill/>
          <a:ln w="12700">
            <a:solidFill>
              <a:srgbClr val="C6D9EE"/>
            </a:solidFill>
            <a:prstDash val="solid"/>
          </a:ln>
        </p:spPr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2484735" y="6816344"/>
            <a:ext cx="365760" cy="164592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</a:lstStyle>
          <a:p>
            <a:pPr algn="ctr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4" name="图片 3" descr="风光电同框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0" y="965200"/>
            <a:ext cx="12179935" cy="198882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74040" y="359410"/>
            <a:ext cx="3964940" cy="47561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320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项目价值</a:t>
            </a:r>
            <a:endParaRPr lang="zh-CN" altLang="en-US" sz="3200" dirty="0">
              <a:gradFill flip="none" rotWithShape="1">
                <a:gsLst>
                  <a:gs pos="39000">
                    <a:prstClr val="white"/>
                  </a:gs>
                  <a:gs pos="100000">
                    <a:srgbClr val="30C0B4">
                      <a:lumMod val="44000"/>
                      <a:lumOff val="56000"/>
                    </a:srgbClr>
                  </a:gs>
                </a:gsLst>
                <a:lin ang="5400000" scaled="1"/>
                <a:tileRect/>
              </a:gradFill>
              <a:effectLst>
                <a:outerShdw blurRad="50800" dist="38100" dir="2700000" algn="tl" rotWithShape="0">
                  <a:prstClr val="black">
                    <a:alpha val="6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44" name="图形 43" descr="箭头: 直 纯色填充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0800000">
            <a:off x="7104564" y="6815992"/>
            <a:ext cx="914400" cy="914400"/>
          </a:xfrm>
          <a:prstGeom prst="rect">
            <a:avLst/>
          </a:prstGeom>
        </p:spPr>
      </p:pic>
      <p:sp>
        <p:nvSpPr>
          <p:cNvPr id="600" name="CBg0"/>
          <p:cNvSpPr/>
          <p:nvPr/>
        </p:nvSpPr>
        <p:spPr>
          <a:xfrm>
            <a:off x="658495" y="1250000"/>
            <a:ext cx="4800000" cy="1100000"/>
          </a:xfrm>
          <a:prstGeom prst="rect">
            <a:avLst/>
          </a:prstGeom>
          <a:solidFill>
            <a:srgbClr val="0D2137">
              <a:alpha val="80000"/>
            </a:srgbClr>
          </a:solidFill>
          <a:ln w="19050">
            <a:solidFill>
              <a:srgbClr val="1E88E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1" name="CVBar0"/>
          <p:cNvSpPr/>
          <p:nvPr/>
        </p:nvSpPr>
        <p:spPr>
          <a:xfrm>
            <a:off x="658495" y="1250000"/>
            <a:ext cx="95000" cy="1100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2" name="CTitle0"/>
          <p:cNvSpPr/>
          <p:nvPr/>
        </p:nvSpPr>
        <p:spPr>
          <a:xfrm>
            <a:off x="810000" y="1330000"/>
            <a:ext cx="4550000" cy="37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E88E5"/>
                </a:soli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理论创新价值</a:t>
            </a:r>
          </a:p>
        </p:txBody>
      </p:sp>
      <p:sp>
        <p:nvSpPr>
          <p:cNvPr id="603" name="CBody0"/>
          <p:cNvSpPr/>
          <p:nvPr/>
        </p:nvSpPr>
        <p:spPr>
          <a:xfrm>
            <a:off x="810000" y="1720000"/>
            <a:ext cx="4550000" cy="59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148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首次提出基于动态关联系数的电力-经济弹性指数，系统构建气象-节假日-经济三元融合解耦框架，填补多元扰动因子解耦分析的理论空白</a:t>
            </a:r>
          </a:p>
        </p:txBody>
      </p:sp>
      <p:sp>
        <p:nvSpPr>
          <p:cNvPr id="605" name="CBg1"/>
          <p:cNvSpPr/>
          <p:nvPr/>
        </p:nvSpPr>
        <p:spPr>
          <a:xfrm>
            <a:off x="658495" y="2480000"/>
            <a:ext cx="4800000" cy="1100000"/>
          </a:xfrm>
          <a:prstGeom prst="rect">
            <a:avLst/>
          </a:prstGeom>
          <a:solidFill>
            <a:srgbClr val="0D2137">
              <a:alpha val="80000"/>
            </a:srgbClr>
          </a:solidFill>
          <a:ln w="19050">
            <a:solidFill>
              <a:srgbClr val="25B59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6" name="CVBar1"/>
          <p:cNvSpPr/>
          <p:nvPr/>
        </p:nvSpPr>
        <p:spPr>
          <a:xfrm>
            <a:off x="658495" y="2480000"/>
            <a:ext cx="95000" cy="1100000"/>
          </a:xfrm>
          <a:prstGeom prst="rect">
            <a:avLst/>
          </a:prstGeom>
          <a:solidFill>
            <a:srgbClr val="25B59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7" name="CTitle1"/>
          <p:cNvSpPr/>
          <p:nvPr/>
        </p:nvSpPr>
        <p:spPr>
          <a:xfrm>
            <a:off x="810000" y="2560000"/>
            <a:ext cx="4550000" cy="37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25B59A"/>
                </a:soli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技术突破价值</a:t>
            </a:r>
          </a:p>
        </p:txBody>
      </p:sp>
      <p:sp>
        <p:nvSpPr>
          <p:cNvPr id="608" name="CBody1"/>
          <p:cNvSpPr/>
          <p:nvPr/>
        </p:nvSpPr>
        <p:spPr>
          <a:xfrm>
            <a:off x="810000" y="2950000"/>
            <a:ext cx="4550000" cy="59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148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创新融合知识图谱、语义大模型与VAE异常检测，实现从"黑盒预测"向"可解释智能诊断"的范式跨越</a:t>
            </a:r>
          </a:p>
        </p:txBody>
      </p:sp>
      <p:sp>
        <p:nvSpPr>
          <p:cNvPr id="610" name="CBg2"/>
          <p:cNvSpPr/>
          <p:nvPr/>
        </p:nvSpPr>
        <p:spPr>
          <a:xfrm>
            <a:off x="658495" y="3710000"/>
            <a:ext cx="4800000" cy="1100000"/>
          </a:xfrm>
          <a:prstGeom prst="rect">
            <a:avLst/>
          </a:prstGeom>
          <a:solidFill>
            <a:srgbClr val="0D2137">
              <a:alpha val="80000"/>
            </a:srgbClr>
          </a:solidFill>
          <a:ln w="19050">
            <a:solidFill>
              <a:srgbClr val="FFC00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1" name="CVBar2"/>
          <p:cNvSpPr/>
          <p:nvPr/>
        </p:nvSpPr>
        <p:spPr>
          <a:xfrm>
            <a:off x="658495" y="3710000"/>
            <a:ext cx="95000" cy="110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2" name="CTitle2"/>
          <p:cNvSpPr/>
          <p:nvPr/>
        </p:nvSpPr>
        <p:spPr>
          <a:xfrm>
            <a:off x="810000" y="3790000"/>
            <a:ext cx="4550000" cy="37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产业应用价值</a:t>
            </a:r>
          </a:p>
        </p:txBody>
      </p:sp>
      <p:sp>
        <p:nvSpPr>
          <p:cNvPr id="613" name="CBody2"/>
          <p:cNvSpPr/>
          <p:nvPr/>
        </p:nvSpPr>
        <p:spPr>
          <a:xfrm>
            <a:off x="810000" y="4180000"/>
            <a:ext cx="4550000" cy="59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148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面向电网企业提供区域/行业/用户三级用电行为精准刻画，支撑重点行业基础用电量实时异动预警与自动化分析</a:t>
            </a:r>
          </a:p>
        </p:txBody>
      </p:sp>
      <p:sp>
        <p:nvSpPr>
          <p:cNvPr id="615" name="CBg3"/>
          <p:cNvSpPr/>
          <p:nvPr/>
        </p:nvSpPr>
        <p:spPr>
          <a:xfrm>
            <a:off x="658495" y="4940000"/>
            <a:ext cx="4800000" cy="1100000"/>
          </a:xfrm>
          <a:prstGeom prst="rect">
            <a:avLst/>
          </a:prstGeom>
          <a:solidFill>
            <a:srgbClr val="0D2137">
              <a:alpha val="80000"/>
            </a:srgbClr>
          </a:solidFill>
          <a:ln w="19050">
            <a:solidFill>
              <a:srgbClr val="FF660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6" name="CVBar3"/>
          <p:cNvSpPr/>
          <p:nvPr/>
        </p:nvSpPr>
        <p:spPr>
          <a:xfrm>
            <a:off x="658495" y="4940000"/>
            <a:ext cx="95000" cy="1100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7" name="CTitle3"/>
          <p:cNvSpPr/>
          <p:nvPr/>
        </p:nvSpPr>
        <p:spPr>
          <a:xfrm>
            <a:off x="810000" y="5020000"/>
            <a:ext cx="4550000" cy="37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FF6600"/>
                </a:soli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决策赋能价值</a:t>
            </a:r>
          </a:p>
        </p:txBody>
      </p:sp>
      <p:sp>
        <p:nvSpPr>
          <p:cNvPr id="618" name="CBody3"/>
          <p:cNvSpPr/>
          <p:nvPr/>
        </p:nvSpPr>
        <p:spPr>
          <a:xfrm>
            <a:off x="810000" y="5410000"/>
            <a:ext cx="4550000" cy="59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148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基于RAG+MCP多智能体框架，为政府及能源主管部门提供高可信、可交互的经济态势智能决策支持系统</a:t>
            </a:r>
          </a:p>
        </p:txBody>
      </p:sp>
      <p:sp>
        <p:nvSpPr>
          <p:cNvPr id="700" name="RHdr"/>
          <p:cNvSpPr/>
          <p:nvPr/>
        </p:nvSpPr>
        <p:spPr>
          <a:xfrm>
            <a:off x="5750000" y="1200000"/>
            <a:ext cx="5800000" cy="42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1900" b="1" dirty="0">
                <a:ln>
                  <a:noFill/>
                </a:ln>
                <a:gradFill>
                  <a:gsLst>
                    <a:gs pos="0">
                      <a:srgbClr val="F2BA02">
                        <a:lumMod val="20000"/>
                        <a:lumOff val="80000"/>
                      </a:srgbClr>
                    </a:gs>
                    <a:gs pos="100000">
                      <a:srgbClr val="FFC000"/>
                    </a:gs>
                  </a:gsLst>
                  <a:lin ang="5400000" scaled="1"/>
                </a:gra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把"用电数据"转化为"经济态势感知能力"</a:t>
            </a:r>
          </a:p>
        </p:txBody>
      </p:sp>
      <p:sp>
        <p:nvSpPr>
          <p:cNvPr id="701" name="RLine"/>
          <p:cNvSpPr/>
          <p:nvPr/>
        </p:nvSpPr>
        <p:spPr>
          <a:xfrm>
            <a:off x="5750000" y="1680000"/>
            <a:ext cx="5800000" cy="0"/>
          </a:xfrm>
          <a:prstGeom prst="line">
            <a:avLst/>
          </a:prstGeom>
          <a:noFill/>
          <a:ln w="9525">
            <a:solidFill>
              <a:srgbClr val="1E88E5"/>
            </a:solidFill>
          </a:ln>
        </p:spPr>
      </p:sp>
      <p:sp>
        <p:nvSpPr>
          <p:cNvPr id="702" name="VBg0"/>
          <p:cNvSpPr/>
          <p:nvPr/>
        </p:nvSpPr>
        <p:spPr>
          <a:xfrm>
            <a:off x="5750000" y="1750000"/>
            <a:ext cx="5800000" cy="1150000"/>
          </a:xfrm>
          <a:prstGeom prst="rect">
            <a:avLst/>
          </a:prstGeom>
          <a:solidFill>
            <a:srgbClr val="0D2137">
              <a:alpha val="70000"/>
            </a:srgbClr>
          </a:solidFill>
          <a:ln w="19050">
            <a:solidFill>
              <a:srgbClr val="1E88E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3" name="VBar0"/>
          <p:cNvSpPr/>
          <p:nvPr/>
        </p:nvSpPr>
        <p:spPr>
          <a:xfrm>
            <a:off x="5750000" y="1750000"/>
            <a:ext cx="95000" cy="11500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4" name="VLabel0"/>
          <p:cNvSpPr/>
          <p:nvPr/>
        </p:nvSpPr>
        <p:spPr>
          <a:xfrm>
            <a:off x="5900000" y="1830000"/>
            <a:ext cx="5550000" cy="36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2100" b="1" dirty="0">
                <a:solidFill>
                  <a:srgbClr val="1E88E5"/>
                </a:soli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理论价值</a:t>
            </a:r>
          </a:p>
        </p:txBody>
      </p:sp>
      <p:sp>
        <p:nvSpPr>
          <p:cNvPr id="705" name="VDesc0"/>
          <p:cNvSpPr/>
          <p:nvPr/>
        </p:nvSpPr>
        <p:spPr>
          <a:xfrm>
            <a:off x="5900000" y="2240000"/>
            <a:ext cx="5550000" cy="60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148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构建电力—经济动态耦合理论框架，量化行业用电敏感度，填补多元扰动因子解耦分析的方法论空白</a:t>
            </a:r>
          </a:p>
        </p:txBody>
      </p:sp>
      <p:sp>
        <p:nvSpPr>
          <p:cNvPr id="706" name="VBg1"/>
          <p:cNvSpPr/>
          <p:nvPr/>
        </p:nvSpPr>
        <p:spPr>
          <a:xfrm>
            <a:off x="5750000" y="3100000"/>
            <a:ext cx="5800000" cy="1150000"/>
          </a:xfrm>
          <a:prstGeom prst="rect">
            <a:avLst/>
          </a:prstGeom>
          <a:solidFill>
            <a:srgbClr val="0D2137">
              <a:alpha val="70000"/>
            </a:srgbClr>
          </a:solidFill>
          <a:ln w="19050">
            <a:solidFill>
              <a:srgbClr val="25B59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7" name="VBar1"/>
          <p:cNvSpPr/>
          <p:nvPr/>
        </p:nvSpPr>
        <p:spPr>
          <a:xfrm>
            <a:off x="5750000" y="3100000"/>
            <a:ext cx="95000" cy="1150000"/>
          </a:xfrm>
          <a:prstGeom prst="rect">
            <a:avLst/>
          </a:prstGeom>
          <a:solidFill>
            <a:srgbClr val="25B59A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8" name="VLabel1"/>
          <p:cNvSpPr/>
          <p:nvPr/>
        </p:nvSpPr>
        <p:spPr>
          <a:xfrm>
            <a:off x="5900000" y="3180000"/>
            <a:ext cx="5550000" cy="36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2100" b="1" dirty="0">
                <a:solidFill>
                  <a:srgbClr val="25B59A"/>
                </a:soli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应用价值</a:t>
            </a:r>
          </a:p>
        </p:txBody>
      </p:sp>
      <p:sp>
        <p:nvSpPr>
          <p:cNvPr id="709" name="VDesc1"/>
          <p:cNvSpPr/>
          <p:nvPr/>
        </p:nvSpPr>
        <p:spPr>
          <a:xfrm>
            <a:off x="5900000" y="3590000"/>
            <a:ext cx="5550000" cy="60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148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赋能电网企业对重点行业用电异动的精准监测与智能诊断，支撑自动化分析报告的批量生成</a:t>
            </a:r>
          </a:p>
        </p:txBody>
      </p:sp>
      <p:sp>
        <p:nvSpPr>
          <p:cNvPr id="710" name="VBg2"/>
          <p:cNvSpPr/>
          <p:nvPr/>
        </p:nvSpPr>
        <p:spPr>
          <a:xfrm>
            <a:off x="5750000" y="4450000"/>
            <a:ext cx="5800000" cy="1150000"/>
          </a:xfrm>
          <a:prstGeom prst="rect">
            <a:avLst/>
          </a:prstGeom>
          <a:solidFill>
            <a:srgbClr val="0D2137">
              <a:alpha val="70000"/>
            </a:srgbClr>
          </a:solidFill>
          <a:ln w="19050">
            <a:solidFill>
              <a:srgbClr val="FFC00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1" name="VBar2"/>
          <p:cNvSpPr/>
          <p:nvPr/>
        </p:nvSpPr>
        <p:spPr>
          <a:xfrm>
            <a:off x="5750000" y="4450000"/>
            <a:ext cx="95000" cy="115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2" name="VLabel2"/>
          <p:cNvSpPr/>
          <p:nvPr/>
        </p:nvSpPr>
        <p:spPr>
          <a:xfrm>
            <a:off x="5900000" y="4530000"/>
            <a:ext cx="5550000" cy="36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2100" b="1" dirty="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9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决策价值</a:t>
            </a:r>
          </a:p>
        </p:txBody>
      </p:sp>
      <p:sp>
        <p:nvSpPr>
          <p:cNvPr id="713" name="VDesc2"/>
          <p:cNvSpPr/>
          <p:nvPr/>
        </p:nvSpPr>
        <p:spPr>
          <a:xfrm>
            <a:off x="5900000" y="4940000"/>
            <a:ext cx="5550000" cy="60000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zh-CN" altLang="en-US" sz="1480" dirty="0">
                <a:gradFill flip="none" rotWithShape="1">
                  <a:gsLst>
                    <a:gs pos="39000">
                      <a:prstClr val="white"/>
                    </a:gs>
                    <a:gs pos="100000">
                      <a:srgbClr val="30C0B4">
                        <a:lumMod val="44000"/>
                        <a:lumOff val="56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6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为政府、能源主管部门提供自动化、可解释的经济态势智能研判，提升政策响应效率</a:t>
            </a:r>
          </a:p>
        </p:txBody>
      </p:sp>
      <p:sp>
        <p:nvSpPr>
          <p:cNvPr id="720" name="NoteBg"/>
          <p:cNvSpPr/>
          <p:nvPr/>
        </p:nvSpPr>
        <p:spPr>
          <a:xfrm>
            <a:off x="658495" y="6100000"/>
            <a:ext cx="10900000" cy="480000"/>
          </a:xfrm>
          <a:prstGeom prst="rect">
            <a:avLst/>
          </a:prstGeom>
          <a:solidFill>
            <a:srgbClr val="1E88E5">
              <a:alpha val="30000"/>
            </a:srgbClr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1" name="NoteText"/>
          <p:cNvSpPr/>
          <p:nvPr/>
        </p:nvSpPr>
        <p:spPr>
          <a:xfrm>
            <a:off x="658495" y="6110000"/>
            <a:ext cx="10900000" cy="47000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  <a:cs typeface="微软雅黑" pitchFamily="34" charset="-122"/>
              </a:rPr>
              <a:t>核心目标：打通"数据处理→异常感知→智能报告→决策问答"全链路闭环，实现分析全流程自动化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0.53999999999996,&quot;left&quot;:370.8,&quot;top&quot;:247.68,&quot;width&quot;:500.4}"/>
</p:tagLst>
</file>

<file path=ppt/tags/tag2.xml><?xml version="1.0" encoding="utf-8"?>
<p:tagLst xmlns:p="http://schemas.openxmlformats.org/presentationml/2006/main">
  <p:tag name="KSO_WM_DIAGRAM_VIRTUALLY_FRAME" val="{&quot;height&quot;:160.53999999999996,&quot;left&quot;:370.8,&quot;top&quot;:247.68,&quot;width&quot;:500.4}"/>
</p:tagLst>
</file>

<file path=ppt/tags/tag3.xml><?xml version="1.0" encoding="utf-8"?>
<p:tagLst xmlns:p="http://schemas.openxmlformats.org/presentationml/2006/main">
  <p:tag name="KSO_WM_DIAGRAM_VIRTUALLY_FRAME" val="{&quot;height&quot;:160.53999999999996,&quot;left&quot;:370.8,&quot;top&quot;:247.68,&quot;width&quot;:500.4}"/>
</p:tagLst>
</file>

<file path=ppt/tags/tag4.xml><?xml version="1.0" encoding="utf-8"?>
<p:tagLst xmlns:p="http://schemas.openxmlformats.org/presentationml/2006/main">
  <p:tag name="KSO_WM_DIAGRAM_VIRTUALLY_FRAME" val="{&quot;height&quot;:160.53999999999996,&quot;left&quot;:370.8,&quot;top&quot;:247.68,&quot;width&quot;:500.4}"/>
</p:tagLst>
</file>

<file path=ppt/tags/tag5.xml><?xml version="1.0" encoding="utf-8"?>
<p:tagLst xmlns:p="http://schemas.openxmlformats.org/presentationml/2006/main">
  <p:tag name="KSO_WM_DIAGRAM_VIRTUALLY_FRAME" val="{&quot;height&quot;:160.53999999999996,&quot;left&quot;:370.8,&quot;top&quot;:247.68,&quot;width&quot;:500.4}"/>
</p:tagLst>
</file>

<file path=ppt/tags/tag6.xml><?xml version="1.0" encoding="utf-8"?>
<p:tagLst xmlns:p="http://schemas.openxmlformats.org/presentationml/2006/main">
  <p:tag name="KSO_WM_DIAGRAM_VIRTUALLY_FRAME" val="{&quot;height&quot;:160.53999999999996,&quot;left&quot;:370.8,&quot;top&quot;:247.68,&quot;width&quot;:500.4}"/>
</p:tagLst>
</file>

<file path=ppt/tags/tag7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8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9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0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1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2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3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4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5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6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7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8.xml><?xml version="1.0" encoding="utf-8"?>
<p:tagLst xmlns:p="http://schemas.openxmlformats.org/presentationml/2006/main">
  <p:tag name="KSO_WM_DIAGRAM_VIRTUALLY_FRAME" val="{&quot;height&quot;:119.47999999999993,&quot;left&quot;:67.67999999999999,&quot;top&quot;:368.64,&quot;width&quot;:855.36}"/>
</p:tagLst>
</file>

<file path=ppt/tags/tag19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20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21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22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23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24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25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26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27.xml><?xml version="1.0" encoding="utf-8"?>
<p:tagLst xmlns:p="http://schemas.openxmlformats.org/presentationml/2006/main">
  <p:tag name="KSO_WM_DIAGRAM_VIRTUALLY_FRAME" val="{&quot;height&quot;:354.01669291338584,&quot;left&quot;:-67.94724409448818,&quot;top&quot;:74.90283464566929,&quot;width&quot;:1124.9794488188977}"/>
</p:tagLst>
</file>

<file path=ppt/tags/tag28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29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30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31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32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33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34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35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36.xml><?xml version="1.0" encoding="utf-8"?>
<p:tagLst xmlns:p="http://schemas.openxmlformats.org/presentationml/2006/main">
  <p:tag name="KSO_WM_DIAGRAM_VIRTUALLY_FRAME" val="{&quot;height&quot;:316.55,&quot;left&quot;:45.6,&quot;top&quot;:146.6,&quot;width&quot;:428.7}"/>
</p:tagLst>
</file>

<file path=ppt/tags/tag37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38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39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40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41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42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43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ags/tag44.xml><?xml version="1.0" encoding="utf-8"?>
<p:tagLst xmlns:p="http://schemas.openxmlformats.org/presentationml/2006/main">
  <p:tag name="KSO_WM_DIAGRAM_VIRTUALLY_FRAME" val="{&quot;height&quot;:77.49000000000001,&quot;left&quot;:512.9300000000001,&quot;top&quot;:171.01,&quot;width&quot;:429.8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1215</Words>
  <Application>WPS 演示</Application>
  <PresentationFormat>宽屏</PresentationFormat>
  <Paragraphs>252</Paragraphs>
  <Slides>6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4" baseType="lpstr">
      <vt:lpstr>Arial</vt:lpstr>
      <vt:lpstr>宋体</vt:lpstr>
      <vt:lpstr>Wingdings</vt:lpstr>
      <vt:lpstr>Noto Sans CJK SC</vt:lpstr>
      <vt:lpstr>AMGDT</vt:lpstr>
      <vt:lpstr>思源黑体</vt:lpstr>
      <vt:lpstr>演示创黑FLY Heavy</vt:lpstr>
      <vt:lpstr>微软雅黑</vt:lpstr>
      <vt:lpstr>黑体</vt:lpstr>
      <vt:lpstr>Noto Sans CJK SC</vt:lpstr>
      <vt:lpstr>Noto Sans CJK SC</vt:lpstr>
      <vt:lpstr>Noto Sans CJK SC</vt:lpstr>
      <vt:lpstr>等线</vt:lpstr>
      <vt:lpstr>Arial Unicode MS</vt:lpstr>
      <vt:lpstr>Wingdings</vt:lpstr>
      <vt:lpstr>Adobe 明體 Std 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基于特征解耦与知识增强的“电力看经济”智能体构建方法</dc:title>
  <dc:creator>OpenAI</dc:creator>
  <dc:subject>SRTP 项目答辩</dc:subject>
  <cp:lastModifiedBy>李佳昱</cp:lastModifiedBy>
  <cp:revision>8</cp:revision>
  <dcterms:created xsi:type="dcterms:W3CDTF">2026-04-11T05:39:00Z</dcterms:created>
  <dcterms:modified xsi:type="dcterms:W3CDTF">2026-04-16T11:44:06Z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3CF8DDB6E7E647649CEA63C7C6436ED3_12</vt:lpwstr>
  </property>
  <property fmtid="{D5CDD505-2E9C-101B-9397-08002B2CF9AE}" pid="3" name="KSOProductBuildVer">
    <vt:lpwstr>2052-12.1.0.23542</vt:lpwstr>
  </property>
</Properties>
</file>