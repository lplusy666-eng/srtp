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content standard: /mnt/data/SRTP申报书.pdf
- User-uploaded draft deck reference: /mnt/data/SRTP答辩PPT_电力看经济智能体_GPT.pptx
- Cover image (Unsplash photo page): https://unsplash.com/photos/a-couple-of-power-lines-sitting-next-to-each-other-zRQMCfwhliE
- Cover image file: https://images.unsplash.com/photo-1712307095421-51727a50f531?fm=jpg&amp;ixid=M3wxMjA3fDB8MHxwaG90by1wYWdlfHx8fGVufDB8fHx8fA%3D%3D&amp;ixlib=rb-4.1.0&amp;q=60&amp;w=3000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content standard: /mnt/data/SRTP申报书.pdf (project background, purpose, and significance sections)
- Renewable image collection page: https://unsplash.com/s/photos/solar-wind
- Renewable image file: https://images.unsplash.com/photo-1595437193398-f24279553f4f?fit=crop&amp;fm=jpg&amp;ixlib=rb-4.1.0&amp;q=80&amp;w=3000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content standard: /mnt/data/SRTP申报书.pdf (project purpose and key problems sections)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content standard: /mnt/data/SRTP申报书.pdf (research methods and technical route sections)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content standard: /mnt/data/SRTP申报书.pdf (innovation and deliverables sections)
- Illustration image page: https://unsplash.com/photos/white-and-black-electric-tower-during-night-time-Mg_Hshwf7_k
- Illustration image file: https://images.unsplash.com/photo-1599045150049-828efe435ccc?fm=jpg&amp;ixid=M3wxMjA3fDB8MHxwaG90by1wYWdlfHx8fGVufDB8fHx8fA%3D%3D&amp;ixlib=rb-4.1.0&amp;q=60&amp;w=3000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content standard: /mnt/data/SRTP申报书.pdf (timeline and existing research basis sections)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content standard: /mnt/data/SRTP申报书.pdf (overall project goals and application value)
- City image search page: https://unsplash.com/s/photos/smart-city
- City image file: https://images.unsplash.com/photo-1519010470956-6d877008eaa4?fm=jpg&amp;ixid=M3wxMjA3fDB8MHxzZWFyY2h8MTB8fHNtYXJ0JTIwY2l0eXxlbnwwfHwwfHx8MA%3D%3D&amp;ixlib=rb-4.1.0&amp;q=60&amp;w=3000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D"/>
          </a:solidFill>
          <a:ln w="12700">
            <a:solidFill>
              <a:srgbClr val="0E22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93268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E7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基于特征解耦与知识增强的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" y="137160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“电力看经济”智能体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49808" y="204825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B5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构建方法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276148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D3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面向复杂电量变化的经济态势感知智能体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3310128"/>
            <a:ext cx="1051560" cy="320040"/>
          </a:xfrm>
          <a:prstGeom prst="roundRect">
            <a:avLst>
              <a:gd name="adj" fmla="val 22857"/>
            </a:avLst>
          </a:prstGeom>
          <a:solidFill>
            <a:srgbClr val="1B3A62"/>
          </a:solidFill>
          <a:ln w="12700">
            <a:solidFill>
              <a:srgbClr val="1B3A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328416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能源转型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83664" y="3310128"/>
            <a:ext cx="1051560" cy="320040"/>
          </a:xfrm>
          <a:prstGeom prst="roundRect">
            <a:avLst>
              <a:gd name="adj" fmla="val 22857"/>
            </a:avLst>
          </a:prstGeom>
          <a:solidFill>
            <a:srgbClr val="1B3A62"/>
          </a:solidFill>
          <a:ln w="12700">
            <a:solidFill>
              <a:srgbClr val="1B3A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83664" y="3328416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多源融合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3310128"/>
            <a:ext cx="1051560" cy="320040"/>
          </a:xfrm>
          <a:prstGeom prst="roundRect">
            <a:avLst>
              <a:gd name="adj" fmla="val 22857"/>
            </a:avLst>
          </a:prstGeom>
          <a:solidFill>
            <a:srgbClr val="1B3A62"/>
          </a:solidFill>
          <a:ln w="12700">
            <a:solidFill>
              <a:srgbClr val="1B3A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3328416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智能决策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" y="4096512"/>
            <a:ext cx="29260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3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汇报人：李佳昱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E3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学院：电气工程学院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E3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指导教师：李知艺 研究员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E3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项目周期：2026.03—2027.05</a:t>
            </a:r>
            <a:endParaRPr lang="en-US" sz="1400" dirty="0"/>
          </a:p>
        </p:txBody>
      </p:sp>
      <p:pic>
        <p:nvPicPr>
          <p:cNvPr id="14" name="Image 0" descr="/mnt/data/ppt_work/assets/cover_powerlines.jpg">    </p:cNvPr>
          <p:cNvPicPr>
            <a:picLocks noChangeAspect="1"/>
          </p:cNvPicPr>
          <p:nvPr/>
        </p:nvPicPr>
        <p:blipFill>
          <a:blip r:embed="rId1"/>
          <a:srcRect l="16513" r="16513" t="0" b="0"/>
          <a:stretch/>
        </p:blipFill>
        <p:spPr>
          <a:xfrm>
            <a:off x="6446520" y="713232"/>
            <a:ext cx="5074920" cy="45262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355080" y="621792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FFFFF">
              <a:alpha val="0"/>
            </a:srgbClr>
          </a:solidFill>
          <a:ln w="16510">
            <a:solidFill>
              <a:srgbClr val="3CC3D6">
                <a:alpha val="7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48272" y="5468112"/>
            <a:ext cx="1124712" cy="384048"/>
          </a:xfrm>
          <a:prstGeom prst="roundRect">
            <a:avLst>
              <a:gd name="adj" fmla="val 19048"/>
            </a:avLst>
          </a:prstGeom>
          <a:solidFill>
            <a:srgbClr val="DFF6F8"/>
          </a:solidFill>
          <a:ln w="12700">
            <a:solidFill>
              <a:srgbClr val="DFF6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48272" y="548640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B5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异常监测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28432" y="5468112"/>
            <a:ext cx="1124712" cy="384048"/>
          </a:xfrm>
          <a:prstGeom prst="roundRect">
            <a:avLst>
              <a:gd name="adj" fmla="val 19048"/>
            </a:avLst>
          </a:prstGeom>
          <a:solidFill>
            <a:srgbClr val="E5F6EE"/>
          </a:solidFill>
          <a:ln w="12700">
            <a:solidFill>
              <a:srgbClr val="E5F6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28432" y="548640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B4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智能诊断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308592" y="5468112"/>
            <a:ext cx="1124712" cy="384048"/>
          </a:xfrm>
          <a:prstGeom prst="roundRect">
            <a:avLst>
              <a:gd name="adj" fmla="val 19048"/>
            </a:avLst>
          </a:prstGeom>
          <a:solidFill>
            <a:srgbClr val="FFF2D8"/>
          </a:solidFill>
          <a:ln w="12700">
            <a:solidFill>
              <a:srgbClr val="FFF2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08592" y="548640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报告生成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588752" y="5468112"/>
            <a:ext cx="1124712" cy="384048"/>
          </a:xfrm>
          <a:prstGeom prst="roundRect">
            <a:avLst>
              <a:gd name="adj" fmla="val 19048"/>
            </a:avLst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88752" y="548640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交互问答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66560" y="60533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E0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复杂电量变化 → 可解释的经济态势判断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356848" y="64190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7E3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研究背景与项目意义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829800" y="4297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Background &amp; Significance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841248"/>
            <a:ext cx="10899648" cy="0"/>
          </a:xfrm>
          <a:prstGeom prst="line">
            <a:avLst/>
          </a:prstGeom>
          <a:noFill/>
          <a:ln w="13970">
            <a:solidFill>
              <a:srgbClr val="D8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042416"/>
            <a:ext cx="10607040" cy="530352"/>
          </a:xfrm>
          <a:prstGeom prst="roundRect">
            <a:avLst>
              <a:gd name="adj" fmla="val 13793"/>
            </a:avLst>
          </a:prstGeom>
          <a:solidFill>
            <a:srgbClr val="0E223D"/>
          </a:solidFill>
          <a:ln w="12700">
            <a:solidFill>
              <a:srgbClr val="0E22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170432"/>
            <a:ext cx="10222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将“用电数据”转化为“经济态势感知能力”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86384" y="1847088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DFF6F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2011680"/>
            <a:ext cx="73152" cy="603504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11680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能源转型加速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37744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新能源占比提升，电力系统精细化分析需求上升。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6384" y="2907792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E5F6E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32688" y="3072384"/>
            <a:ext cx="73152" cy="603504"/>
          </a:xfrm>
          <a:prstGeom prst="rect">
            <a:avLst/>
          </a:prstGeom>
          <a:solidFill>
            <a:srgbClr val="24B47E"/>
          </a:solidFill>
          <a:ln w="12700">
            <a:solidFill>
              <a:srgbClr val="24B4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072384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电力与经济耦合增强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438144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用电变化可反映宏观经济、行业景气与区域发展。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6384" y="3968496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2D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4133088"/>
            <a:ext cx="73152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133088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传统方法存在局限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49884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单一预测难以刻画气象、节假日与经济因素的叠加扰动。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16752" y="1847088"/>
            <a:ext cx="4983480" cy="859536"/>
          </a:xfrm>
          <a:prstGeom prst="roundRect">
            <a:avLst>
              <a:gd name="adj" fmla="val 8511"/>
            </a:avLst>
          </a:prstGeom>
          <a:solidFill>
            <a:srgbClr val="EEE8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3056" y="2011680"/>
            <a:ext cx="73152" cy="5303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2011680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理论价值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27648" y="2377440"/>
            <a:ext cx="4562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构建电力—经济动态耦合框架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16752" y="2834640"/>
            <a:ext cx="4983480" cy="859536"/>
          </a:xfrm>
          <a:prstGeom prst="roundRect">
            <a:avLst>
              <a:gd name="adj" fmla="val 8511"/>
            </a:avLst>
          </a:prstGeom>
          <a:solidFill>
            <a:srgbClr val="DFF6F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63056" y="2999232"/>
            <a:ext cx="73152" cy="530352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2999232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应用价值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27648" y="3364992"/>
            <a:ext cx="4562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支撑行业异动监测与精准分析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16752" y="3822192"/>
            <a:ext cx="4983480" cy="859536"/>
          </a:xfrm>
          <a:prstGeom prst="roundRect">
            <a:avLst>
              <a:gd name="adj" fmla="val 8511"/>
            </a:avLst>
          </a:prstGeom>
          <a:solidFill>
            <a:srgbClr val="FFF2D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63056" y="3986784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3986784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决策价值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27648" y="4352544"/>
            <a:ext cx="4562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服务政府及相关部门智能研判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6384" y="5376672"/>
            <a:ext cx="1021384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5586984"/>
            <a:ext cx="9802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2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项目目标不是单纯预测电量，而是形成“监测—诊断—生成—问答”的智能分析闭环。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1356848" y="64190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研究目标与关键问题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829800" y="4297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Goals &amp; Challenges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841248"/>
            <a:ext cx="10899648" cy="0"/>
          </a:xfrm>
          <a:prstGeom prst="line">
            <a:avLst/>
          </a:prstGeom>
          <a:noFill/>
          <a:ln w="13970">
            <a:solidFill>
              <a:srgbClr val="D8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280160"/>
            <a:ext cx="5285232" cy="1188720"/>
          </a:xfrm>
          <a:prstGeom prst="roundRect">
            <a:avLst>
              <a:gd name="adj" fmla="val 6154"/>
            </a:avLst>
          </a:prstGeom>
          <a:solidFill>
            <a:srgbClr val="DFF6F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444752"/>
            <a:ext cx="73152" cy="859536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444752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0704" y="1810512"/>
            <a:ext cx="4864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构建电力—经济动态演化理论框架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44768" y="1280160"/>
            <a:ext cx="5285232" cy="1188720"/>
          </a:xfrm>
          <a:prstGeom prst="roundRect">
            <a:avLst>
              <a:gd name="adj" fmla="val 6154"/>
            </a:avLst>
          </a:prstGeom>
          <a:solidFill>
            <a:srgbClr val="E5F6E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91072" y="1444752"/>
            <a:ext cx="73152" cy="859536"/>
          </a:xfrm>
          <a:prstGeom prst="rect">
            <a:avLst/>
          </a:prstGeom>
          <a:solidFill>
            <a:srgbClr val="24B47E"/>
          </a:solidFill>
          <a:ln w="12700">
            <a:solidFill>
              <a:srgbClr val="24B4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444752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55664" y="1810512"/>
            <a:ext cx="4864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构建多源融合的电量波动解析模型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" y="2724912"/>
            <a:ext cx="5285232" cy="1188720"/>
          </a:xfrm>
          <a:prstGeom prst="roundRect">
            <a:avLst>
              <a:gd name="adj" fmla="val 6154"/>
            </a:avLst>
          </a:prstGeom>
          <a:solidFill>
            <a:srgbClr val="FFF2D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2889504"/>
            <a:ext cx="73152" cy="8595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2889504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60704" y="3255264"/>
            <a:ext cx="4864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实现重点行业基础用电量异动监测与智能诊断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44768" y="2724912"/>
            <a:ext cx="5285232" cy="1188720"/>
          </a:xfrm>
          <a:prstGeom prst="roundRect">
            <a:avLst>
              <a:gd name="adj" fmla="val 6154"/>
            </a:avLst>
          </a:prstGeom>
          <a:solidFill>
            <a:srgbClr val="EEE8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91072" y="2889504"/>
            <a:ext cx="73152" cy="85953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2889504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55664" y="3255264"/>
            <a:ext cx="4864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研发报告生成与智能问答一体化智能体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" y="43159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2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拟解决的关键问题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4672" y="4736592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5240" dist="1016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9264" y="4901184"/>
            <a:ext cx="384048" cy="384048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491032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26464" y="5010912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复杂关系如何量化</a:t>
            </a:r>
            <a:endParaRPr lang="en-US" sz="1340" dirty="0"/>
          </a:p>
        </p:txBody>
      </p:sp>
      <p:sp>
        <p:nvSpPr>
          <p:cNvPr id="26" name="Shape 24"/>
          <p:cNvSpPr/>
          <p:nvPr/>
        </p:nvSpPr>
        <p:spPr>
          <a:xfrm>
            <a:off x="2816352" y="4736592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5240" dist="1016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980944" y="4901184"/>
            <a:ext cx="384048" cy="384048"/>
          </a:xfrm>
          <a:prstGeom prst="ellipse">
            <a:avLst/>
          </a:prstGeom>
          <a:solidFill>
            <a:srgbClr val="24B47E"/>
          </a:solidFill>
          <a:ln w="12700">
            <a:solidFill>
              <a:srgbClr val="24B4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80944" y="491032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38144" y="5010912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多源扰动如何精准解耦</a:t>
            </a:r>
            <a:endParaRPr lang="en-US" sz="1340" dirty="0"/>
          </a:p>
        </p:txBody>
      </p:sp>
      <p:sp>
        <p:nvSpPr>
          <p:cNvPr id="30" name="Shape 28"/>
          <p:cNvSpPr/>
          <p:nvPr/>
        </p:nvSpPr>
        <p:spPr>
          <a:xfrm>
            <a:off x="5623560" y="4736592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5240" dist="1016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88152" y="490118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88152" y="491032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45352" y="5010912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多模型如何有效融合</a:t>
            </a:r>
            <a:endParaRPr lang="en-US" sz="1340" dirty="0"/>
          </a:p>
        </p:txBody>
      </p:sp>
      <p:sp>
        <p:nvSpPr>
          <p:cNvPr id="34" name="Shape 32"/>
          <p:cNvSpPr/>
          <p:nvPr/>
        </p:nvSpPr>
        <p:spPr>
          <a:xfrm>
            <a:off x="8430768" y="4736592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5240" dist="10160" dir="27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595360" y="4901184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0" y="491032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52560" y="5010912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多智能体如何输出可信结果</a:t>
            </a:r>
            <a:endParaRPr lang="en-US" sz="1340" dirty="0"/>
          </a:p>
        </p:txBody>
      </p:sp>
      <p:sp>
        <p:nvSpPr>
          <p:cNvPr id="38" name="Text 36"/>
          <p:cNvSpPr/>
          <p:nvPr/>
        </p:nvSpPr>
        <p:spPr>
          <a:xfrm>
            <a:off x="11356848" y="64190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研究方法与技术路线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829800" y="4297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Technical Roadmap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841248"/>
            <a:ext cx="10899648" cy="0"/>
          </a:xfrm>
          <a:prstGeom prst="line">
            <a:avLst/>
          </a:prstGeom>
          <a:noFill/>
          <a:ln w="1397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87168" y="215798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B8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0" y="215798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B8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022592" y="215798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B8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290304" y="215798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B8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828800" cy="1572768"/>
          </a:xfrm>
          <a:prstGeom prst="roundRect">
            <a:avLst>
              <a:gd name="adj" fmla="val 4070"/>
            </a:avLst>
          </a:prstGeom>
          <a:solidFill>
            <a:srgbClr val="DFF6F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1016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07592" y="1042416"/>
            <a:ext cx="493776" cy="493776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7592" y="10607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197510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多源数据接入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04672" y="241401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电量、气象、节假日、经济数据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907792" y="1664208"/>
            <a:ext cx="1828800" cy="1572768"/>
          </a:xfrm>
          <a:prstGeom prst="roundRect">
            <a:avLst>
              <a:gd name="adj" fmla="val 4070"/>
            </a:avLst>
          </a:prstGeom>
          <a:solidFill>
            <a:srgbClr val="E5F6E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1016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75304" y="1042416"/>
            <a:ext cx="493776" cy="493776"/>
          </a:xfrm>
          <a:prstGeom prst="ellipse">
            <a:avLst/>
          </a:prstGeom>
          <a:solidFill>
            <a:srgbClr val="24B47E"/>
          </a:solidFill>
          <a:ln w="12700">
            <a:solidFill>
              <a:srgbClr val="24B4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5304" y="10607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72384" y="197510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特征解耦解析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072384" y="241401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去除常规波动，识别跨尺度特征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175504" y="1664208"/>
            <a:ext cx="1828800" cy="1572768"/>
          </a:xfrm>
          <a:prstGeom prst="roundRect">
            <a:avLst>
              <a:gd name="adj" fmla="val 4070"/>
            </a:avLst>
          </a:prstGeom>
          <a:solidFill>
            <a:srgbClr val="FFF2D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1016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43016" y="1042416"/>
            <a:ext cx="493776" cy="4937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43016" y="10607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0096" y="197510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知识增强诊断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340096" y="241401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知识图谱 + LLM + VAE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443216" y="1664208"/>
            <a:ext cx="1828800" cy="1572768"/>
          </a:xfrm>
          <a:prstGeom prst="roundRect">
            <a:avLst>
              <a:gd name="adj" fmla="val 4070"/>
            </a:avLst>
          </a:prstGeom>
          <a:solidFill>
            <a:srgbClr val="EEE8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1016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10728" y="1042416"/>
            <a:ext cx="493776" cy="493776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0728" y="10607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07808" y="197510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多智能体协同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607808" y="241401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 + MCP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9710928" y="1664208"/>
            <a:ext cx="1828800" cy="1572768"/>
          </a:xfrm>
          <a:prstGeom prst="roundRect">
            <a:avLst>
              <a:gd name="adj" fmla="val 4070"/>
            </a:avLst>
          </a:prstGeom>
          <a:solidFill>
            <a:srgbClr val="FDECE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1016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378440" y="1042416"/>
            <a:ext cx="493776" cy="493776"/>
          </a:xfrm>
          <a:prstGeom prst="ellipse">
            <a:avLst/>
          </a:prstGeom>
          <a:solidFill>
            <a:srgbClr val="D9485F"/>
          </a:solidFill>
          <a:ln w="12700">
            <a:solidFill>
              <a:srgbClr val="D948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78440" y="10607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875520" y="197510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智能输出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875520" y="241401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报告生成 + 交互问答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932688" y="3694176"/>
            <a:ext cx="10168128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5568" y="3904488"/>
            <a:ext cx="9802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2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通过“数据 → 解耦 → 诊断 → 协同 → 输出”形成完整智能链路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841248" y="4736592"/>
            <a:ext cx="2103120" cy="969264"/>
          </a:xfrm>
          <a:prstGeom prst="roundRect">
            <a:avLst>
              <a:gd name="adj" fmla="val 5660"/>
            </a:avLst>
          </a:prstGeom>
          <a:solidFill>
            <a:srgbClr val="DFF6F8"/>
          </a:solidFill>
          <a:ln w="12700">
            <a:solidFill>
              <a:srgbClr val="DFF6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49011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关联机制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50976" y="519379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行业敏感度分级与弹性指数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3639312" y="4736592"/>
            <a:ext cx="2103120" cy="969264"/>
          </a:xfrm>
          <a:prstGeom prst="roundRect">
            <a:avLst>
              <a:gd name="adj" fmla="val 5660"/>
            </a:avLst>
          </a:prstGeom>
          <a:solidFill>
            <a:srgbClr val="E5F6EE"/>
          </a:solidFill>
          <a:ln w="12700">
            <a:solidFill>
              <a:srgbClr val="E5F6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39312" y="49011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多模态融合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3749040" y="519379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轻量化时序解耦去干扰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6437376" y="4736592"/>
            <a:ext cx="2103120" cy="969264"/>
          </a:xfrm>
          <a:prstGeom prst="roundRect">
            <a:avLst>
              <a:gd name="adj" fmla="val 5660"/>
            </a:avLst>
          </a:prstGeom>
          <a:solidFill>
            <a:srgbClr val="FFF2D8"/>
          </a:solidFill>
          <a:ln w="12700">
            <a:solidFill>
              <a:srgbClr val="FFF2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37376" y="49011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异动感知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6547104" y="519379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多维感知网络与动态诊断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9235440" y="4736592"/>
            <a:ext cx="2103120" cy="969264"/>
          </a:xfrm>
          <a:prstGeom prst="roundRect">
            <a:avLst>
              <a:gd name="adj" fmla="val 5660"/>
            </a:avLst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35440" y="49011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智能闭环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9345168" y="519379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贯通“数据—知识—文本—交互”</a:t>
            </a:r>
            <a:endParaRPr lang="en-US" sz="1080" dirty="0"/>
          </a:p>
        </p:txBody>
      </p:sp>
      <p:sp>
        <p:nvSpPr>
          <p:cNvPr id="48" name="Text 46"/>
          <p:cNvSpPr/>
          <p:nvPr/>
        </p:nvSpPr>
        <p:spPr>
          <a:xfrm>
            <a:off x="11356848" y="64190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创新点与预期成果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829800" y="4297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Innovation &amp; Deliverables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841248"/>
            <a:ext cx="10899648" cy="0"/>
          </a:xfrm>
          <a:prstGeom prst="line">
            <a:avLst/>
          </a:prstGeom>
          <a:noFill/>
          <a:ln w="13970">
            <a:solidFill>
              <a:srgbClr val="D8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225296"/>
            <a:ext cx="5010912" cy="987552"/>
          </a:xfrm>
          <a:prstGeom prst="roundRect">
            <a:avLst>
              <a:gd name="adj" fmla="val 7407"/>
            </a:avLst>
          </a:prstGeom>
          <a:solidFill>
            <a:srgbClr val="DFF6F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389888"/>
            <a:ext cx="73152" cy="658368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389888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创新1｜多模态跨尺度解耦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60704" y="1755648"/>
            <a:ext cx="4590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融合轻量化时序解耦与跨尺度特征分析，提升电量波动解析颗粒度。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749808" y="2395728"/>
            <a:ext cx="5010912" cy="987552"/>
          </a:xfrm>
          <a:prstGeom prst="roundRect">
            <a:avLst>
              <a:gd name="adj" fmla="val 7407"/>
            </a:avLst>
          </a:prstGeom>
          <a:solidFill>
            <a:srgbClr val="FFF2D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2560320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560320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创新2｜图谱 + 大模型 + VAE 融合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60704" y="2926080"/>
            <a:ext cx="4590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形成“知识驱动 + 推理增强 + 异常检测”的一体化诊断范式。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49808" y="3566160"/>
            <a:ext cx="5010912" cy="987552"/>
          </a:xfrm>
          <a:prstGeom prst="roundRect">
            <a:avLst>
              <a:gd name="adj" fmla="val 7407"/>
            </a:avLst>
          </a:prstGeom>
          <a:solidFill>
            <a:srgbClr val="EEE8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730752"/>
            <a:ext cx="73152" cy="65836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730752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创新3｜面向应用的多智能体闭环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060704" y="4096512"/>
            <a:ext cx="4590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打通数据处理、异常监测、报告生成与决策问答。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089904" y="1298448"/>
            <a:ext cx="1115568" cy="1078992"/>
          </a:xfrm>
          <a:prstGeom prst="roundRect">
            <a:avLst>
              <a:gd name="adj" fmla="val 5085"/>
            </a:avLst>
          </a:prstGeom>
          <a:solidFill>
            <a:srgbClr val="DFF6F8"/>
          </a:solidFill>
          <a:ln w="12700">
            <a:solidFill>
              <a:srgbClr val="DFF6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1444752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B5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089904" y="190195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技术报告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15784" y="1298448"/>
            <a:ext cx="1115568" cy="1078992"/>
          </a:xfrm>
          <a:prstGeom prst="roundRect">
            <a:avLst>
              <a:gd name="adj" fmla="val 5085"/>
            </a:avLst>
          </a:prstGeom>
          <a:solidFill>
            <a:srgbClr val="E5F6EE"/>
          </a:solidFill>
          <a:ln w="12700">
            <a:solidFill>
              <a:srgbClr val="E5F6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15784" y="1444752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B47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15784" y="190195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软件原型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741664" y="1298448"/>
            <a:ext cx="1115568" cy="1078992"/>
          </a:xfrm>
          <a:prstGeom prst="roundRect">
            <a:avLst>
              <a:gd name="adj" fmla="val 5085"/>
            </a:avLst>
          </a:prstGeom>
          <a:solidFill>
            <a:srgbClr val="FFF2D8"/>
          </a:solidFill>
          <a:ln w="12700">
            <a:solidFill>
              <a:srgbClr val="FFF2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41664" y="1444752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741664" y="190195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发明专利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067544" y="1298448"/>
            <a:ext cx="1115568" cy="1078992"/>
          </a:xfrm>
          <a:prstGeom prst="roundRect">
            <a:avLst>
              <a:gd name="adj" fmla="val 5085"/>
            </a:avLst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67544" y="1444752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63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067544" y="190195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软件著作权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80176" y="2670048"/>
            <a:ext cx="513892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2944368"/>
            <a:ext cx="4626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2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形成“理论创新 + 系统原型 + 知识产权”三位一体输出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236208" y="35295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从基础机理研究走向可交付系统原型</a:t>
            </a:r>
            <a:endParaRPr lang="en-US" sz="1280" dirty="0"/>
          </a:p>
        </p:txBody>
      </p:sp>
      <p:pic>
        <p:nvPicPr>
          <p:cNvPr id="32" name="Image 0" descr="/mnt/data/ppt_work/assets/tower_stars.jpg">    </p:cNvPr>
          <p:cNvPicPr>
            <a:picLocks noChangeAspect="1"/>
          </p:cNvPicPr>
          <p:nvPr/>
        </p:nvPicPr>
        <p:blipFill>
          <a:blip r:embed="rId1"/>
          <a:srcRect l="0" r="0" t="26092" b="26092"/>
          <a:stretch/>
        </p:blipFill>
        <p:spPr>
          <a:xfrm>
            <a:off x="6199632" y="3968496"/>
            <a:ext cx="4736592" cy="1792224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6108192" y="3877056"/>
            <a:ext cx="4919472" cy="1975104"/>
          </a:xfrm>
          <a:prstGeom prst="roundRect">
            <a:avLst>
              <a:gd name="adj" fmla="val 3704"/>
            </a:avLst>
          </a:prstGeom>
          <a:solidFill>
            <a:srgbClr val="FFFFFF">
              <a:alpha val="0"/>
            </a:srgbClr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356848" y="64190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实施计划与研究基础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829800" y="4297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 &amp; Feasibility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841248"/>
            <a:ext cx="10899648" cy="0"/>
          </a:xfrm>
          <a:prstGeom prst="line">
            <a:avLst/>
          </a:prstGeom>
          <a:noFill/>
          <a:ln w="13970">
            <a:solidFill>
              <a:srgbClr val="D8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" y="2029968"/>
            <a:ext cx="8942832" cy="0"/>
          </a:xfrm>
          <a:prstGeom prst="line">
            <a:avLst/>
          </a:prstGeom>
          <a:noFill/>
          <a:ln w="27940">
            <a:solidFill>
              <a:srgbClr val="D8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298448"/>
            <a:ext cx="2066544" cy="493776"/>
          </a:xfrm>
          <a:prstGeom prst="roundRect">
            <a:avLst>
              <a:gd name="adj" fmla="val 9259"/>
            </a:avLst>
          </a:prstGeom>
          <a:solidFill>
            <a:srgbClr val="DFF6F8"/>
          </a:solidFill>
          <a:ln w="12700">
            <a:solidFill>
              <a:srgbClr val="DFF6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435608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2026.03—05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581912" y="1847088"/>
            <a:ext cx="457200" cy="457200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18745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6384" y="2542032"/>
            <a:ext cx="206654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77977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需求调研  文献梳理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总体方案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3502152" y="1298448"/>
            <a:ext cx="2066544" cy="493776"/>
          </a:xfrm>
          <a:prstGeom prst="roundRect">
            <a:avLst>
              <a:gd name="adj" fmla="val 9259"/>
            </a:avLst>
          </a:prstGeom>
          <a:solidFill>
            <a:srgbClr val="E5F6EE"/>
          </a:solidFill>
          <a:ln w="12700">
            <a:solidFill>
              <a:srgbClr val="E5F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1435608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2026.06—09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297680" y="1847088"/>
            <a:ext cx="457200" cy="457200"/>
          </a:xfrm>
          <a:prstGeom prst="ellipse">
            <a:avLst/>
          </a:prstGeom>
          <a:solidFill>
            <a:srgbClr val="24B47E"/>
          </a:solidFill>
          <a:ln w="12700">
            <a:solidFill>
              <a:srgbClr val="24B4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8745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502152" y="2542032"/>
            <a:ext cx="206654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277977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关联机制研究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波动解析模型开发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217920" y="1298448"/>
            <a:ext cx="2066544" cy="493776"/>
          </a:xfrm>
          <a:prstGeom prst="roundRect">
            <a:avLst>
              <a:gd name="adj" fmla="val 9259"/>
            </a:avLst>
          </a:prstGeom>
          <a:solidFill>
            <a:srgbClr val="FFF2D8"/>
          </a:solidFill>
          <a:ln w="12700">
            <a:solidFill>
              <a:srgbClr val="FFF2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435608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2026.10—12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013448" y="184708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18745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17920" y="2542032"/>
            <a:ext cx="206654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277977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知识图谱构建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异动监测与问答开发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8933688" y="1298448"/>
            <a:ext cx="2066544" cy="493776"/>
          </a:xfrm>
          <a:prstGeom prst="roundRect">
            <a:avLst>
              <a:gd name="adj" fmla="val 9259"/>
            </a:avLst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33688" y="1435608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2027.01—05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729216" y="1847088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29216" y="18745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933688" y="2542032"/>
            <a:ext cx="206654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43416" y="277977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技术报告  原型完善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专利软著申请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749808" y="3950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2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可行性基础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31520" y="4297680"/>
            <a:ext cx="3456432" cy="1152144"/>
          </a:xfrm>
          <a:prstGeom prst="roundRect">
            <a:avLst>
              <a:gd name="adj" fmla="val 6349"/>
            </a:avLst>
          </a:prstGeom>
          <a:solidFill>
            <a:srgbClr val="DFF6F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77824" y="4462272"/>
            <a:ext cx="73152" cy="82296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2416" y="446227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团队基础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1042416" y="4828032"/>
            <a:ext cx="303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具备自动控制、信号处理与 AI 建模基础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4370832" y="4297680"/>
            <a:ext cx="3456432" cy="1152144"/>
          </a:xfrm>
          <a:prstGeom prst="roundRect">
            <a:avLst>
              <a:gd name="adj" fmla="val 6349"/>
            </a:avLst>
          </a:prstGeom>
          <a:solidFill>
            <a:srgbClr val="E5F6E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17136" y="4462272"/>
            <a:ext cx="73152" cy="822960"/>
          </a:xfrm>
          <a:prstGeom prst="rect">
            <a:avLst/>
          </a:prstGeom>
          <a:solidFill>
            <a:srgbClr val="24B47E"/>
          </a:solidFill>
          <a:ln w="12700">
            <a:solidFill>
              <a:srgbClr val="24B47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446227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条件保障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4681728" y="4828032"/>
            <a:ext cx="303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具备高性能计算设备，可依托实验室资源</a:t>
            </a:r>
            <a:endParaRPr lang="en-US" sz="1220" dirty="0"/>
          </a:p>
        </p:txBody>
      </p:sp>
      <p:sp>
        <p:nvSpPr>
          <p:cNvPr id="39" name="Shape 37"/>
          <p:cNvSpPr/>
          <p:nvPr/>
        </p:nvSpPr>
        <p:spPr>
          <a:xfrm>
            <a:off x="8010144" y="4297680"/>
            <a:ext cx="3456432" cy="1152144"/>
          </a:xfrm>
          <a:prstGeom prst="roundRect">
            <a:avLst>
              <a:gd name="adj" fmla="val 6349"/>
            </a:avLst>
          </a:prstGeom>
          <a:solidFill>
            <a:srgbClr val="FFF2D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56448" y="4462272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446227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数据来源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8321040" y="4828032"/>
            <a:ext cx="303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宏观经济与总用电量数据公开可得、成本可控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11356848" y="64190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D"/>
          </a:solidFill>
          <a:ln w="12700">
            <a:solidFill>
              <a:srgbClr val="0E22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498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56816" y="822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1D4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41248" y="1170432"/>
            <a:ext cx="10469880" cy="0"/>
          </a:xfrm>
          <a:prstGeom prst="line">
            <a:avLst/>
          </a:prstGeom>
          <a:noFill/>
          <a:ln w="13970">
            <a:solidFill>
              <a:srgbClr val="2A43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572768"/>
            <a:ext cx="5504688" cy="1426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本项目围绕“电量变化如何映射经济态势”这一问题，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以“特征解耦 + 知识增强 + 多智能体协同”为主线，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构建可监测、可诊断、可生成、可问答的“电力看经济”智能体原型。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3255264"/>
            <a:ext cx="5175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E3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为电力系统精细化运行和经济态势智能研判提供方法支撑。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914400" y="3968496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1B3A62"/>
          </a:solidFill>
          <a:ln w="12700">
            <a:solidFill>
              <a:srgbClr val="1B3A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867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特征解耦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39696" y="3968496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1B3A62"/>
          </a:solidFill>
          <a:ln w="12700">
            <a:solidFill>
              <a:srgbClr val="1B3A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9696" y="39867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知识增强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64992" y="3968496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1B3A62"/>
          </a:solidFill>
          <a:ln w="12700">
            <a:solidFill>
              <a:srgbClr val="1B3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3986784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多智能体协同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882896" y="3968496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1B3A62"/>
          </a:solidFill>
          <a:ln w="12700">
            <a:solidFill>
              <a:srgbClr val="1B3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39867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报告生成与问答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" y="4992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B5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谢谢各位老师，请批评指正！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4132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 &amp; A</a:t>
            </a:r>
            <a:endParaRPr lang="en-US" sz="2400" dirty="0"/>
          </a:p>
        </p:txBody>
      </p:sp>
      <p:pic>
        <p:nvPicPr>
          <p:cNvPr id="18" name="Image 0" descr="/mnt/data/ppt_work/assets/city_smart.jpg">    </p:cNvPr>
          <p:cNvPicPr>
            <a:picLocks noChangeAspect="1"/>
          </p:cNvPicPr>
          <p:nvPr/>
        </p:nvPicPr>
        <p:blipFill>
          <a:blip r:embed="rId1"/>
          <a:srcRect l="0" r="0" t="8548" b="8548"/>
          <a:stretch/>
        </p:blipFill>
        <p:spPr>
          <a:xfrm>
            <a:off x="7059168" y="1078992"/>
            <a:ext cx="4096512" cy="5084064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931152" y="950976"/>
            <a:ext cx="4352544" cy="5340096"/>
          </a:xfrm>
          <a:prstGeom prst="roundRect">
            <a:avLst>
              <a:gd name="adj" fmla="val 1681"/>
            </a:avLst>
          </a:prstGeom>
          <a:solidFill>
            <a:srgbClr val="FFFFFF">
              <a:alpha val="0"/>
            </a:srgbClr>
          </a:solidFill>
          <a:ln w="15240">
            <a:solidFill>
              <a:srgbClr val="12B5CB">
                <a:alpha val="5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59168" y="5394960"/>
            <a:ext cx="4096512" cy="768096"/>
          </a:xfrm>
          <a:prstGeom prst="rect">
            <a:avLst/>
          </a:prstGeom>
          <a:solidFill>
            <a:srgbClr val="0E223D">
              <a:alpha val="85000"/>
            </a:srgbClr>
          </a:solidFill>
          <a:ln w="12700">
            <a:solidFill>
              <a:srgbClr val="0E223D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33488" y="5650992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从复杂电量变化到经济态势判断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1356848" y="64190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7E3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电力看经济智能体答辩优化版</dc:title>
  <dc:subject>SRTP答辩PPT优化版</dc:subject>
  <dc:creator>OpenAI</dc:creator>
  <cp:lastModifiedBy>OpenAI</cp:lastModifiedBy>
  <cp:revision>1</cp:revision>
  <dcterms:created xsi:type="dcterms:W3CDTF">2026-04-14T06:47:03Z</dcterms:created>
  <dcterms:modified xsi:type="dcterms:W3CDTF">2026-04-14T06:47:03Z</dcterms:modified>
</cp:coreProperties>
</file>